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League Spartan" charset="1" panose="00000800000000000000"/>
      <p:regular r:id="rId21"/>
    </p:embeddedFont>
    <p:embeddedFont>
      <p:font typeface="Arimo Bold" charset="1" panose="020B0704020202020204"/>
      <p:regular r:id="rId22"/>
    </p:embeddedFont>
    <p:embeddedFont>
      <p:font typeface="Arimo" charset="1" panose="020B0604020202020204"/>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svg" Type="http://schemas.openxmlformats.org/officeDocument/2006/relationships/image"/><Relationship Id="rId11" Target="../media/image9.png" Type="http://schemas.openxmlformats.org/officeDocument/2006/relationships/image"/><Relationship Id="rId12" Target="../media/image10.svg" Type="http://schemas.openxmlformats.org/officeDocument/2006/relationships/image"/><Relationship Id="rId13" Target="../media/image11.png" Type="http://schemas.openxmlformats.org/officeDocument/2006/relationships/image"/><Relationship Id="rId14" Target="../media/image12.svg" Type="http://schemas.openxmlformats.org/officeDocument/2006/relationships/image"/><Relationship Id="rId15" Target="../media/image13.png" Type="http://schemas.openxmlformats.org/officeDocument/2006/relationships/image"/><Relationship Id="rId16"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https://colab.research.google.com/drive/1i5uWn0Lqxy2c0MRbRAqXpHwhKYpAaCAO?usp=sharing" TargetMode="External" Type="http://schemas.openxmlformats.org/officeDocument/2006/relationships/hyperlink"/><Relationship Id="rId9"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5.png" Type="http://schemas.openxmlformats.org/officeDocument/2006/relationships/image"/><Relationship Id="rId17" Target="../media/image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sv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35.png" Type="http://schemas.openxmlformats.org/officeDocument/2006/relationships/image"/><Relationship Id="rId15" Target="../media/image36.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9.png" Type="http://schemas.openxmlformats.org/officeDocument/2006/relationships/image"/><Relationship Id="rId7" Target="../media/image30.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43.png" Type="http://schemas.openxmlformats.org/officeDocument/2006/relationships/image"/><Relationship Id="rId13" Target="../media/image44.svg" Type="http://schemas.openxmlformats.org/officeDocument/2006/relationships/image"/><Relationship Id="rId2" Target="../media/image37.png" Type="http://schemas.openxmlformats.org/officeDocument/2006/relationships/image"/><Relationship Id="rId3" Target="../media/image3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 Id="rId8" Target="../media/image41.png" Type="http://schemas.openxmlformats.org/officeDocument/2006/relationships/image"/><Relationship Id="rId9" Target="../media/image4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sv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14" Target="../media/image25.png" Type="http://schemas.openxmlformats.org/officeDocument/2006/relationships/image"/><Relationship Id="rId15" Target="../media/image26.svg" Type="http://schemas.openxmlformats.org/officeDocument/2006/relationships/image"/><Relationship Id="rId16" Target="../media/image5.png" Type="http://schemas.openxmlformats.org/officeDocument/2006/relationships/image"/><Relationship Id="rId17" Target="../media/image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png" Type="http://schemas.openxmlformats.org/officeDocument/2006/relationships/image"/><Relationship Id="rId11" Target="../media/image50.svg" Type="http://schemas.openxmlformats.org/officeDocument/2006/relationships/image"/><Relationship Id="rId12" Target="../media/image51.png" Type="http://schemas.openxmlformats.org/officeDocument/2006/relationships/image"/><Relationship Id="rId13" Target="../media/image52.svg" Type="http://schemas.openxmlformats.org/officeDocument/2006/relationships/image"/><Relationship Id="rId14" Target="../media/image5.png" Type="http://schemas.openxmlformats.org/officeDocument/2006/relationships/image"/><Relationship Id="rId15" Target="../media/image6.svg" Type="http://schemas.openxmlformats.org/officeDocument/2006/relationships/image"/><Relationship Id="rId2" Target="../media/image37.png" Type="http://schemas.openxmlformats.org/officeDocument/2006/relationships/image"/><Relationship Id="rId3" Target="../media/image3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 Id="rId8" Target="../media/image47.png" Type="http://schemas.openxmlformats.org/officeDocument/2006/relationships/image"/><Relationship Id="rId9" Target="../media/image4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21.png" Type="http://schemas.openxmlformats.org/officeDocument/2006/relationships/image"/><Relationship Id="rId13" Target="../media/image22.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5.png" Type="http://schemas.openxmlformats.org/officeDocument/2006/relationships/image"/><Relationship Id="rId11" Target="../media/image56.svg" Type="http://schemas.openxmlformats.org/officeDocument/2006/relationships/image"/><Relationship Id="rId12" Target="../media/image57.png" Type="http://schemas.openxmlformats.org/officeDocument/2006/relationships/image"/><Relationship Id="rId13" Target="../media/image58.svg" Type="http://schemas.openxmlformats.org/officeDocument/2006/relationships/image"/><Relationship Id="rId14" Target="../media/image59.png" Type="http://schemas.openxmlformats.org/officeDocument/2006/relationships/image"/><Relationship Id="rId15" Target="../media/image60.svg" Type="http://schemas.openxmlformats.org/officeDocument/2006/relationships/image"/><Relationship Id="rId16" Target="../media/image61.png" Type="http://schemas.openxmlformats.org/officeDocument/2006/relationships/image"/><Relationship Id="rId17" Target="../media/image62.svg" Type="http://schemas.openxmlformats.org/officeDocument/2006/relationships/image"/><Relationship Id="rId18" Target="../media/image63.png" Type="http://schemas.openxmlformats.org/officeDocument/2006/relationships/image"/><Relationship Id="rId19" Target="../media/image6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5.png" Type="http://schemas.openxmlformats.org/officeDocument/2006/relationships/image"/><Relationship Id="rId11" Target="../media/image66.svg" Type="http://schemas.openxmlformats.org/officeDocument/2006/relationships/image"/><Relationship Id="rId2" Target="../media/image37.png" Type="http://schemas.openxmlformats.org/officeDocument/2006/relationships/image"/><Relationship Id="rId3" Target="../media/image3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3.png" Type="http://schemas.openxmlformats.org/officeDocument/2006/relationships/image"/><Relationship Id="rId11" Target="../media/image44.svg" Type="http://schemas.openxmlformats.org/officeDocument/2006/relationships/image"/><Relationship Id="rId12" Target="../media/image67.png" Type="http://schemas.openxmlformats.org/officeDocument/2006/relationships/image"/><Relationship Id="rId13" Target="../media/image68.svg" Type="http://schemas.openxmlformats.org/officeDocument/2006/relationships/image"/><Relationship Id="rId14" Target="../media/image69.png" Type="http://schemas.openxmlformats.org/officeDocument/2006/relationships/image"/><Relationship Id="rId15" Target="../media/image70.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12" Target="../media/image65.png" Type="http://schemas.openxmlformats.org/officeDocument/2006/relationships/image"/><Relationship Id="rId13" Target="../media/image66.svg" Type="http://schemas.openxmlformats.org/officeDocument/2006/relationships/image"/><Relationship Id="rId14" Target="../media/image5.png" Type="http://schemas.openxmlformats.org/officeDocument/2006/relationships/image"/><Relationship Id="rId15" Target="../media/image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1.png" Type="http://schemas.openxmlformats.org/officeDocument/2006/relationships/image"/><Relationship Id="rId7" Target="../media/image72.svg" Type="http://schemas.openxmlformats.org/officeDocument/2006/relationships/image"/><Relationship Id="rId8" Target="../media/image73.png" Type="http://schemas.openxmlformats.org/officeDocument/2006/relationships/image"/><Relationship Id="rId9" Target="../media/image7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65.png" Type="http://schemas.openxmlformats.org/officeDocument/2006/relationships/image"/><Relationship Id="rId9" Target="../media/image6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43.png" Type="http://schemas.openxmlformats.org/officeDocument/2006/relationships/image"/><Relationship Id="rId9" Target="../media/image4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jpe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901072" y="-2585529"/>
            <a:ext cx="5608645" cy="6038918"/>
          </a:xfrm>
          <a:custGeom>
            <a:avLst/>
            <a:gdLst/>
            <a:ahLst/>
            <a:cxnLst/>
            <a:rect r="r" b="b" t="t" l="l"/>
            <a:pathLst>
              <a:path h="6038918" w="5608645">
                <a:moveTo>
                  <a:pt x="0" y="0"/>
                </a:moveTo>
                <a:lnTo>
                  <a:pt x="5608645" y="0"/>
                </a:lnTo>
                <a:lnTo>
                  <a:pt x="5608645" y="6038918"/>
                </a:lnTo>
                <a:lnTo>
                  <a:pt x="0" y="6038918"/>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88142" y="5672454"/>
            <a:ext cx="5377626" cy="5790176"/>
          </a:xfrm>
          <a:custGeom>
            <a:avLst/>
            <a:gdLst/>
            <a:ahLst/>
            <a:cxnLst/>
            <a:rect r="r" b="b" t="t" l="l"/>
            <a:pathLst>
              <a:path h="5790176" w="5377626">
                <a:moveTo>
                  <a:pt x="0" y="0"/>
                </a:moveTo>
                <a:lnTo>
                  <a:pt x="5377627" y="0"/>
                </a:lnTo>
                <a:lnTo>
                  <a:pt x="5377627" y="5790176"/>
                </a:lnTo>
                <a:lnTo>
                  <a:pt x="0" y="5790176"/>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8636694" y="6367657"/>
            <a:ext cx="8582434" cy="850470"/>
            <a:chOff x="0" y="0"/>
            <a:chExt cx="2022671" cy="200436"/>
          </a:xfrm>
        </p:grpSpPr>
        <p:sp>
          <p:nvSpPr>
            <p:cNvPr name="Freeform 6" id="6"/>
            <p:cNvSpPr/>
            <p:nvPr/>
          </p:nvSpPr>
          <p:spPr>
            <a:xfrm flipH="false" flipV="false" rot="0">
              <a:off x="0" y="0"/>
              <a:ext cx="2022671" cy="200436"/>
            </a:xfrm>
            <a:custGeom>
              <a:avLst/>
              <a:gdLst/>
              <a:ahLst/>
              <a:cxnLst/>
              <a:rect r="r" b="b" t="t" l="l"/>
              <a:pathLst>
                <a:path h="200436" w="2022671">
                  <a:moveTo>
                    <a:pt x="2022671" y="0"/>
                  </a:moveTo>
                  <a:lnTo>
                    <a:pt x="2022671" y="200436"/>
                  </a:lnTo>
                  <a:lnTo>
                    <a:pt x="0" y="200436"/>
                  </a:lnTo>
                  <a:lnTo>
                    <a:pt x="0" y="0"/>
                  </a:lnTo>
                  <a:close/>
                </a:path>
              </a:pathLst>
            </a:custGeom>
            <a:solidFill>
              <a:srgbClr val="7B5EA8"/>
            </a:solidFill>
          </p:spPr>
        </p:sp>
        <p:sp>
          <p:nvSpPr>
            <p:cNvPr name="TextBox 7" id="7"/>
            <p:cNvSpPr txBox="true"/>
            <p:nvPr/>
          </p:nvSpPr>
          <p:spPr>
            <a:xfrm>
              <a:off x="0" y="-47625"/>
              <a:ext cx="2022671" cy="248061"/>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509516" y="6253688"/>
            <a:ext cx="8622606" cy="876318"/>
            <a:chOff x="0" y="0"/>
            <a:chExt cx="2032139" cy="206528"/>
          </a:xfrm>
        </p:grpSpPr>
        <p:sp>
          <p:nvSpPr>
            <p:cNvPr name="Freeform 9" id="9"/>
            <p:cNvSpPr/>
            <p:nvPr/>
          </p:nvSpPr>
          <p:spPr>
            <a:xfrm flipH="false" flipV="false" rot="0">
              <a:off x="0" y="0"/>
              <a:ext cx="2032139" cy="206528"/>
            </a:xfrm>
            <a:custGeom>
              <a:avLst/>
              <a:gdLst/>
              <a:ahLst/>
              <a:cxnLst/>
              <a:rect r="r" b="b" t="t" l="l"/>
              <a:pathLst>
                <a:path h="206528" w="2032139">
                  <a:moveTo>
                    <a:pt x="2032139" y="0"/>
                  </a:moveTo>
                  <a:lnTo>
                    <a:pt x="2032139" y="206528"/>
                  </a:lnTo>
                  <a:lnTo>
                    <a:pt x="0" y="206528"/>
                  </a:lnTo>
                  <a:lnTo>
                    <a:pt x="0" y="0"/>
                  </a:lnTo>
                  <a:close/>
                </a:path>
              </a:pathLst>
            </a:custGeom>
            <a:solidFill>
              <a:srgbClr val="D8E264"/>
            </a:solidFill>
          </p:spPr>
        </p:sp>
        <p:sp>
          <p:nvSpPr>
            <p:cNvPr name="TextBox 10" id="10"/>
            <p:cNvSpPr txBox="true"/>
            <p:nvPr/>
          </p:nvSpPr>
          <p:spPr>
            <a:xfrm>
              <a:off x="0" y="-47625"/>
              <a:ext cx="2032139" cy="254153"/>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15130093" y="9262886"/>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499693" y="-973005"/>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7754370" y="2339644"/>
            <a:ext cx="10347084" cy="2803856"/>
          </a:xfrm>
          <a:prstGeom prst="rect">
            <a:avLst/>
          </a:prstGeom>
        </p:spPr>
        <p:txBody>
          <a:bodyPr anchor="t" rtlCol="false" tIns="0" lIns="0" bIns="0" rIns="0">
            <a:spAutoFit/>
          </a:bodyPr>
          <a:lstStyle/>
          <a:p>
            <a:pPr algn="ctr">
              <a:lnSpc>
                <a:spcPts val="5539"/>
              </a:lnSpc>
            </a:pPr>
            <a:r>
              <a:rPr lang="en-US" sz="4616" u="sng">
                <a:solidFill>
                  <a:srgbClr val="000000"/>
                </a:solidFill>
                <a:latin typeface="League Spartan"/>
                <a:ea typeface="League Spartan"/>
                <a:cs typeface="League Spartan"/>
                <a:sym typeface="League Spartan"/>
                <a:hlinkClick r:id="rId8" tooltip="https://colab.research.google.com/drive/1i5uWn0Lqxy2c0MRbRAqXpHwhKYpAaCAO?usp=sharing"/>
              </a:rPr>
              <a:t>Klasifikasi Aktivitas Login Normal dan Mencurigakan Berdasarkan Pola Waktu, Lokasi, dan Perangkat</a:t>
            </a:r>
          </a:p>
        </p:txBody>
      </p:sp>
      <p:sp>
        <p:nvSpPr>
          <p:cNvPr name="Freeform 14" id="14"/>
          <p:cNvSpPr/>
          <p:nvPr/>
        </p:nvSpPr>
        <p:spPr>
          <a:xfrm flipH="false" flipV="false" rot="0">
            <a:off x="444086" y="1800896"/>
            <a:ext cx="7650065" cy="7385790"/>
          </a:xfrm>
          <a:custGeom>
            <a:avLst/>
            <a:gdLst/>
            <a:ahLst/>
            <a:cxnLst/>
            <a:rect r="r" b="b" t="t" l="l"/>
            <a:pathLst>
              <a:path h="7385790" w="7650065">
                <a:moveTo>
                  <a:pt x="0" y="0"/>
                </a:moveTo>
                <a:lnTo>
                  <a:pt x="7650066" y="0"/>
                </a:lnTo>
                <a:lnTo>
                  <a:pt x="7650066" y="7385790"/>
                </a:lnTo>
                <a:lnTo>
                  <a:pt x="0" y="738579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5" id="15"/>
          <p:cNvSpPr/>
          <p:nvPr/>
        </p:nvSpPr>
        <p:spPr>
          <a:xfrm flipH="false" flipV="false" rot="0">
            <a:off x="367886" y="1724696"/>
            <a:ext cx="7650065" cy="7385790"/>
          </a:xfrm>
          <a:custGeom>
            <a:avLst/>
            <a:gdLst/>
            <a:ahLst/>
            <a:cxnLst/>
            <a:rect r="r" b="b" t="t" l="l"/>
            <a:pathLst>
              <a:path h="7385790" w="7650065">
                <a:moveTo>
                  <a:pt x="0" y="0"/>
                </a:moveTo>
                <a:lnTo>
                  <a:pt x="7650066" y="0"/>
                </a:lnTo>
                <a:lnTo>
                  <a:pt x="7650066" y="7385790"/>
                </a:lnTo>
                <a:lnTo>
                  <a:pt x="0" y="738579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9181500" y="8676674"/>
            <a:ext cx="1275904" cy="958523"/>
          </a:xfrm>
          <a:custGeom>
            <a:avLst/>
            <a:gdLst/>
            <a:ahLst/>
            <a:cxnLst/>
            <a:rect r="r" b="b" t="t" l="l"/>
            <a:pathLst>
              <a:path h="958523" w="1275904">
                <a:moveTo>
                  <a:pt x="0" y="0"/>
                </a:moveTo>
                <a:lnTo>
                  <a:pt x="1275904" y="0"/>
                </a:lnTo>
                <a:lnTo>
                  <a:pt x="1275904" y="958523"/>
                </a:lnTo>
                <a:lnTo>
                  <a:pt x="0" y="95852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7" id="17"/>
          <p:cNvSpPr/>
          <p:nvPr/>
        </p:nvSpPr>
        <p:spPr>
          <a:xfrm flipH="false" flipV="false" rot="0">
            <a:off x="11577008" y="681687"/>
            <a:ext cx="1350904" cy="694027"/>
          </a:xfrm>
          <a:custGeom>
            <a:avLst/>
            <a:gdLst/>
            <a:ahLst/>
            <a:cxnLst/>
            <a:rect r="r" b="b" t="t" l="l"/>
            <a:pathLst>
              <a:path h="694027" w="1350904">
                <a:moveTo>
                  <a:pt x="0" y="0"/>
                </a:moveTo>
                <a:lnTo>
                  <a:pt x="1350903" y="0"/>
                </a:lnTo>
                <a:lnTo>
                  <a:pt x="1350903" y="694026"/>
                </a:lnTo>
                <a:lnTo>
                  <a:pt x="0" y="6940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8" id="18"/>
          <p:cNvSpPr txBox="true"/>
          <p:nvPr/>
        </p:nvSpPr>
        <p:spPr>
          <a:xfrm rot="0">
            <a:off x="9376368" y="6236170"/>
            <a:ext cx="6888901" cy="790575"/>
          </a:xfrm>
          <a:prstGeom prst="rect">
            <a:avLst/>
          </a:prstGeom>
        </p:spPr>
        <p:txBody>
          <a:bodyPr anchor="t" rtlCol="false" tIns="0" lIns="0" bIns="0" rIns="0">
            <a:spAutoFit/>
          </a:bodyPr>
          <a:lstStyle/>
          <a:p>
            <a:pPr algn="ctr">
              <a:lnSpc>
                <a:spcPts val="6299"/>
              </a:lnSpc>
            </a:pPr>
            <a:r>
              <a:rPr lang="en-US" sz="4500" b="true">
                <a:solidFill>
                  <a:srgbClr val="000000"/>
                </a:solidFill>
                <a:latin typeface="Arimo Bold"/>
                <a:ea typeface="Arimo Bold"/>
                <a:cs typeface="Arimo Bold"/>
                <a:sym typeface="Arimo Bold"/>
              </a:rPr>
              <a:t>TUGAS EAS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280039">
            <a:off x="9038467" y="5489483"/>
            <a:ext cx="4889020" cy="5794395"/>
          </a:xfrm>
          <a:custGeom>
            <a:avLst/>
            <a:gdLst/>
            <a:ahLst/>
            <a:cxnLst/>
            <a:rect r="r" b="b" t="t" l="l"/>
            <a:pathLst>
              <a:path h="5794395" w="4889020">
                <a:moveTo>
                  <a:pt x="0" y="0"/>
                </a:moveTo>
                <a:lnTo>
                  <a:pt x="4889021" y="0"/>
                </a:lnTo>
                <a:lnTo>
                  <a:pt x="4889021" y="5794395"/>
                </a:lnTo>
                <a:lnTo>
                  <a:pt x="0" y="5794395"/>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738">
            <a:off x="-1061171" y="-2407546"/>
            <a:ext cx="4889020" cy="5794395"/>
          </a:xfrm>
          <a:custGeom>
            <a:avLst/>
            <a:gdLst/>
            <a:ahLst/>
            <a:cxnLst/>
            <a:rect r="r" b="b" t="t" l="l"/>
            <a:pathLst>
              <a:path h="5794395" w="4889020">
                <a:moveTo>
                  <a:pt x="0" y="0"/>
                </a:moveTo>
                <a:lnTo>
                  <a:pt x="4889021" y="0"/>
                </a:lnTo>
                <a:lnTo>
                  <a:pt x="4889021" y="5794394"/>
                </a:lnTo>
                <a:lnTo>
                  <a:pt x="0" y="5794394"/>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9352438" y="2590578"/>
            <a:ext cx="7747604" cy="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804960" y="2040211"/>
            <a:ext cx="10157398" cy="6574607"/>
          </a:xfrm>
          <a:custGeom>
            <a:avLst/>
            <a:gdLst/>
            <a:ahLst/>
            <a:cxnLst/>
            <a:rect r="r" b="b" t="t" l="l"/>
            <a:pathLst>
              <a:path h="6574607" w="10157398">
                <a:moveTo>
                  <a:pt x="0" y="0"/>
                </a:moveTo>
                <a:lnTo>
                  <a:pt x="10157398" y="0"/>
                </a:lnTo>
                <a:lnTo>
                  <a:pt x="10157398" y="6574607"/>
                </a:lnTo>
                <a:lnTo>
                  <a:pt x="0" y="65746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9467364" y="3331060"/>
            <a:ext cx="7791936" cy="4355249"/>
            <a:chOff x="0" y="0"/>
            <a:chExt cx="1836370" cy="1026433"/>
          </a:xfrm>
        </p:grpSpPr>
        <p:sp>
          <p:nvSpPr>
            <p:cNvPr name="Freeform 8" id="8"/>
            <p:cNvSpPr/>
            <p:nvPr/>
          </p:nvSpPr>
          <p:spPr>
            <a:xfrm flipH="false" flipV="false" rot="0">
              <a:off x="0" y="0"/>
              <a:ext cx="1836370" cy="1026433"/>
            </a:xfrm>
            <a:custGeom>
              <a:avLst/>
              <a:gdLst/>
              <a:ahLst/>
              <a:cxnLst/>
              <a:rect r="r" b="b" t="t" l="l"/>
              <a:pathLst>
                <a:path h="1026433" w="1836370">
                  <a:moveTo>
                    <a:pt x="1836370" y="0"/>
                  </a:moveTo>
                  <a:lnTo>
                    <a:pt x="1836370" y="1026433"/>
                  </a:lnTo>
                  <a:lnTo>
                    <a:pt x="0" y="1026433"/>
                  </a:lnTo>
                  <a:lnTo>
                    <a:pt x="0" y="0"/>
                  </a:lnTo>
                  <a:close/>
                </a:path>
              </a:pathLst>
            </a:custGeom>
            <a:solidFill>
              <a:srgbClr val="7B5EA8"/>
            </a:solidFill>
          </p:spPr>
        </p:sp>
        <p:sp>
          <p:nvSpPr>
            <p:cNvPr name="TextBox 9" id="9"/>
            <p:cNvSpPr txBox="true"/>
            <p:nvPr/>
          </p:nvSpPr>
          <p:spPr>
            <a:xfrm>
              <a:off x="0" y="-47625"/>
              <a:ext cx="1836370" cy="1074058"/>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9352438" y="3072640"/>
            <a:ext cx="7791936" cy="812140"/>
            <a:chOff x="0" y="0"/>
            <a:chExt cx="1836370" cy="191403"/>
          </a:xfrm>
        </p:grpSpPr>
        <p:sp>
          <p:nvSpPr>
            <p:cNvPr name="Freeform 11" id="11"/>
            <p:cNvSpPr/>
            <p:nvPr/>
          </p:nvSpPr>
          <p:spPr>
            <a:xfrm flipH="false" flipV="false" rot="0">
              <a:off x="0" y="0"/>
              <a:ext cx="1836370" cy="191403"/>
            </a:xfrm>
            <a:custGeom>
              <a:avLst/>
              <a:gdLst/>
              <a:ahLst/>
              <a:cxnLst/>
              <a:rect r="r" b="b" t="t" l="l"/>
              <a:pathLst>
                <a:path h="191403" w="1836370">
                  <a:moveTo>
                    <a:pt x="1836370" y="0"/>
                  </a:moveTo>
                  <a:lnTo>
                    <a:pt x="1836370" y="191403"/>
                  </a:lnTo>
                  <a:lnTo>
                    <a:pt x="0" y="191403"/>
                  </a:lnTo>
                  <a:lnTo>
                    <a:pt x="0" y="0"/>
                  </a:lnTo>
                  <a:close/>
                </a:path>
              </a:pathLst>
            </a:custGeom>
            <a:solidFill>
              <a:srgbClr val="D8E264"/>
            </a:solidFill>
          </p:spPr>
        </p:sp>
        <p:sp>
          <p:nvSpPr>
            <p:cNvPr name="TextBox 12" id="12"/>
            <p:cNvSpPr txBox="true"/>
            <p:nvPr/>
          </p:nvSpPr>
          <p:spPr>
            <a:xfrm>
              <a:off x="0" y="-47625"/>
              <a:ext cx="1836370" cy="239028"/>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888560" y="1958123"/>
            <a:ext cx="10157398" cy="6574607"/>
          </a:xfrm>
          <a:custGeom>
            <a:avLst/>
            <a:gdLst/>
            <a:ahLst/>
            <a:cxnLst/>
            <a:rect r="r" b="b" t="t" l="l"/>
            <a:pathLst>
              <a:path h="6574607" w="10157398">
                <a:moveTo>
                  <a:pt x="0" y="0"/>
                </a:moveTo>
                <a:lnTo>
                  <a:pt x="10157398" y="0"/>
                </a:lnTo>
                <a:lnTo>
                  <a:pt x="10157398" y="6574607"/>
                </a:lnTo>
                <a:lnTo>
                  <a:pt x="0" y="65746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9352438" y="3980030"/>
            <a:ext cx="7791936" cy="812140"/>
            <a:chOff x="0" y="0"/>
            <a:chExt cx="1836370" cy="191403"/>
          </a:xfrm>
        </p:grpSpPr>
        <p:sp>
          <p:nvSpPr>
            <p:cNvPr name="Freeform 15" id="15"/>
            <p:cNvSpPr/>
            <p:nvPr/>
          </p:nvSpPr>
          <p:spPr>
            <a:xfrm flipH="false" flipV="false" rot="0">
              <a:off x="0" y="0"/>
              <a:ext cx="1836370" cy="191403"/>
            </a:xfrm>
            <a:custGeom>
              <a:avLst/>
              <a:gdLst/>
              <a:ahLst/>
              <a:cxnLst/>
              <a:rect r="r" b="b" t="t" l="l"/>
              <a:pathLst>
                <a:path h="191403" w="1836370">
                  <a:moveTo>
                    <a:pt x="1836370" y="0"/>
                  </a:moveTo>
                  <a:lnTo>
                    <a:pt x="1836370" y="191403"/>
                  </a:lnTo>
                  <a:lnTo>
                    <a:pt x="0" y="191403"/>
                  </a:lnTo>
                  <a:lnTo>
                    <a:pt x="0" y="0"/>
                  </a:lnTo>
                  <a:close/>
                </a:path>
              </a:pathLst>
            </a:custGeom>
            <a:solidFill>
              <a:srgbClr val="D8E264"/>
            </a:solidFill>
          </p:spPr>
        </p:sp>
        <p:sp>
          <p:nvSpPr>
            <p:cNvPr name="TextBox 16" id="16"/>
            <p:cNvSpPr txBox="true"/>
            <p:nvPr/>
          </p:nvSpPr>
          <p:spPr>
            <a:xfrm>
              <a:off x="0" y="-47625"/>
              <a:ext cx="1836370" cy="239028"/>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9352438" y="4887420"/>
            <a:ext cx="7791936" cy="812140"/>
            <a:chOff x="0" y="0"/>
            <a:chExt cx="1836370" cy="191403"/>
          </a:xfrm>
        </p:grpSpPr>
        <p:sp>
          <p:nvSpPr>
            <p:cNvPr name="Freeform 18" id="18"/>
            <p:cNvSpPr/>
            <p:nvPr/>
          </p:nvSpPr>
          <p:spPr>
            <a:xfrm flipH="false" flipV="false" rot="0">
              <a:off x="0" y="0"/>
              <a:ext cx="1836370" cy="191403"/>
            </a:xfrm>
            <a:custGeom>
              <a:avLst/>
              <a:gdLst/>
              <a:ahLst/>
              <a:cxnLst/>
              <a:rect r="r" b="b" t="t" l="l"/>
              <a:pathLst>
                <a:path h="191403" w="1836370">
                  <a:moveTo>
                    <a:pt x="1836370" y="0"/>
                  </a:moveTo>
                  <a:lnTo>
                    <a:pt x="1836370" y="191403"/>
                  </a:lnTo>
                  <a:lnTo>
                    <a:pt x="0" y="191403"/>
                  </a:lnTo>
                  <a:lnTo>
                    <a:pt x="0" y="0"/>
                  </a:lnTo>
                  <a:close/>
                </a:path>
              </a:pathLst>
            </a:custGeom>
            <a:solidFill>
              <a:srgbClr val="D8E264"/>
            </a:solidFill>
          </p:spPr>
        </p:sp>
        <p:sp>
          <p:nvSpPr>
            <p:cNvPr name="TextBox 19" id="19"/>
            <p:cNvSpPr txBox="true"/>
            <p:nvPr/>
          </p:nvSpPr>
          <p:spPr>
            <a:xfrm>
              <a:off x="0" y="-47625"/>
              <a:ext cx="1836370" cy="239028"/>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9352438" y="5794810"/>
            <a:ext cx="7791936" cy="812140"/>
            <a:chOff x="0" y="0"/>
            <a:chExt cx="1836370" cy="191403"/>
          </a:xfrm>
        </p:grpSpPr>
        <p:sp>
          <p:nvSpPr>
            <p:cNvPr name="Freeform 21" id="21"/>
            <p:cNvSpPr/>
            <p:nvPr/>
          </p:nvSpPr>
          <p:spPr>
            <a:xfrm flipH="false" flipV="false" rot="0">
              <a:off x="0" y="0"/>
              <a:ext cx="1836370" cy="191403"/>
            </a:xfrm>
            <a:custGeom>
              <a:avLst/>
              <a:gdLst/>
              <a:ahLst/>
              <a:cxnLst/>
              <a:rect r="r" b="b" t="t" l="l"/>
              <a:pathLst>
                <a:path h="191403" w="1836370">
                  <a:moveTo>
                    <a:pt x="1836370" y="0"/>
                  </a:moveTo>
                  <a:lnTo>
                    <a:pt x="1836370" y="191403"/>
                  </a:lnTo>
                  <a:lnTo>
                    <a:pt x="0" y="191403"/>
                  </a:lnTo>
                  <a:lnTo>
                    <a:pt x="0" y="0"/>
                  </a:lnTo>
                  <a:close/>
                </a:path>
              </a:pathLst>
            </a:custGeom>
            <a:solidFill>
              <a:srgbClr val="D8E264"/>
            </a:solidFill>
          </p:spPr>
        </p:sp>
        <p:sp>
          <p:nvSpPr>
            <p:cNvPr name="TextBox 22" id="22"/>
            <p:cNvSpPr txBox="true"/>
            <p:nvPr/>
          </p:nvSpPr>
          <p:spPr>
            <a:xfrm>
              <a:off x="0" y="-47625"/>
              <a:ext cx="1836370" cy="239028"/>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9352438" y="6702200"/>
            <a:ext cx="7791936" cy="812140"/>
            <a:chOff x="0" y="0"/>
            <a:chExt cx="1836370" cy="191403"/>
          </a:xfrm>
        </p:grpSpPr>
        <p:sp>
          <p:nvSpPr>
            <p:cNvPr name="Freeform 24" id="24"/>
            <p:cNvSpPr/>
            <p:nvPr/>
          </p:nvSpPr>
          <p:spPr>
            <a:xfrm flipH="false" flipV="false" rot="0">
              <a:off x="0" y="0"/>
              <a:ext cx="1836370" cy="191403"/>
            </a:xfrm>
            <a:custGeom>
              <a:avLst/>
              <a:gdLst/>
              <a:ahLst/>
              <a:cxnLst/>
              <a:rect r="r" b="b" t="t" l="l"/>
              <a:pathLst>
                <a:path h="191403" w="1836370">
                  <a:moveTo>
                    <a:pt x="1836370" y="0"/>
                  </a:moveTo>
                  <a:lnTo>
                    <a:pt x="1836370" y="191403"/>
                  </a:lnTo>
                  <a:lnTo>
                    <a:pt x="0" y="191403"/>
                  </a:lnTo>
                  <a:lnTo>
                    <a:pt x="0" y="0"/>
                  </a:lnTo>
                  <a:close/>
                </a:path>
              </a:pathLst>
            </a:custGeom>
            <a:solidFill>
              <a:srgbClr val="D8E264"/>
            </a:solidFill>
          </p:spPr>
        </p:sp>
        <p:sp>
          <p:nvSpPr>
            <p:cNvPr name="TextBox 25" id="25"/>
            <p:cNvSpPr txBox="true"/>
            <p:nvPr/>
          </p:nvSpPr>
          <p:spPr>
            <a:xfrm>
              <a:off x="0" y="-47625"/>
              <a:ext cx="1836370" cy="239028"/>
            </a:xfrm>
            <a:prstGeom prst="rect">
              <a:avLst/>
            </a:prstGeom>
          </p:spPr>
          <p:txBody>
            <a:bodyPr anchor="ctr" rtlCol="false" tIns="50800" lIns="50800" bIns="50800" rIns="50800"/>
            <a:lstStyle/>
            <a:p>
              <a:pPr algn="ctr">
                <a:lnSpc>
                  <a:spcPts val="2659"/>
                </a:lnSpc>
              </a:pPr>
            </a:p>
          </p:txBody>
        </p:sp>
      </p:grpSp>
      <p:sp>
        <p:nvSpPr>
          <p:cNvPr name="Freeform 26" id="26"/>
          <p:cNvSpPr/>
          <p:nvPr/>
        </p:nvSpPr>
        <p:spPr>
          <a:xfrm flipH="false" flipV="false" rot="0">
            <a:off x="9694158" y="323836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9694158" y="414575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8" id="28"/>
          <p:cNvSpPr/>
          <p:nvPr/>
        </p:nvSpPr>
        <p:spPr>
          <a:xfrm flipH="false" flipV="false" rot="0">
            <a:off x="9694158" y="505314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9" id="29"/>
          <p:cNvSpPr/>
          <p:nvPr/>
        </p:nvSpPr>
        <p:spPr>
          <a:xfrm flipH="false" flipV="false" rot="0">
            <a:off x="9694158" y="596053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0" id="30"/>
          <p:cNvSpPr/>
          <p:nvPr/>
        </p:nvSpPr>
        <p:spPr>
          <a:xfrm flipH="false" flipV="false" rot="0">
            <a:off x="9694158" y="686792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1" id="31"/>
          <p:cNvSpPr/>
          <p:nvPr/>
        </p:nvSpPr>
        <p:spPr>
          <a:xfrm flipH="false" flipV="false" rot="0">
            <a:off x="4328913" y="8469238"/>
            <a:ext cx="1763267" cy="789062"/>
          </a:xfrm>
          <a:custGeom>
            <a:avLst/>
            <a:gdLst/>
            <a:ahLst/>
            <a:cxnLst/>
            <a:rect r="r" b="b" t="t" l="l"/>
            <a:pathLst>
              <a:path h="789062" w="1763267">
                <a:moveTo>
                  <a:pt x="0" y="0"/>
                </a:moveTo>
                <a:lnTo>
                  <a:pt x="1763267" y="0"/>
                </a:lnTo>
                <a:lnTo>
                  <a:pt x="1763267" y="789062"/>
                </a:lnTo>
                <a:lnTo>
                  <a:pt x="0" y="78906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2" id="32"/>
          <p:cNvSpPr/>
          <p:nvPr/>
        </p:nvSpPr>
        <p:spPr>
          <a:xfrm flipH="false" flipV="false" rot="-1093199">
            <a:off x="15721173" y="8593762"/>
            <a:ext cx="1451149" cy="789062"/>
          </a:xfrm>
          <a:custGeom>
            <a:avLst/>
            <a:gdLst/>
            <a:ahLst/>
            <a:cxnLst/>
            <a:rect r="r" b="b" t="t" l="l"/>
            <a:pathLst>
              <a:path h="789062" w="1451149">
                <a:moveTo>
                  <a:pt x="0" y="0"/>
                </a:moveTo>
                <a:lnTo>
                  <a:pt x="1451149" y="0"/>
                </a:lnTo>
                <a:lnTo>
                  <a:pt x="1451149" y="789062"/>
                </a:lnTo>
                <a:lnTo>
                  <a:pt x="0" y="78906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33" id="33"/>
          <p:cNvSpPr txBox="true"/>
          <p:nvPr/>
        </p:nvSpPr>
        <p:spPr>
          <a:xfrm rot="0">
            <a:off x="10425116" y="3144145"/>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Reva Olinda Primalia [1482400025]</a:t>
            </a:r>
          </a:p>
        </p:txBody>
      </p:sp>
      <p:sp>
        <p:nvSpPr>
          <p:cNvPr name="TextBox 34" id="34"/>
          <p:cNvSpPr txBox="true"/>
          <p:nvPr/>
        </p:nvSpPr>
        <p:spPr>
          <a:xfrm rot="0">
            <a:off x="10425116" y="4051535"/>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Mei Maharani             [1482400078]</a:t>
            </a:r>
          </a:p>
        </p:txBody>
      </p:sp>
      <p:sp>
        <p:nvSpPr>
          <p:cNvPr name="TextBox 35" id="35"/>
          <p:cNvSpPr txBox="true"/>
          <p:nvPr/>
        </p:nvSpPr>
        <p:spPr>
          <a:xfrm rot="0">
            <a:off x="10425116" y="4958924"/>
            <a:ext cx="6834184"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Febry Putri A</a:t>
            </a:r>
            <a:r>
              <a:rPr lang="en-US" sz="3200">
                <a:solidFill>
                  <a:srgbClr val="000000"/>
                </a:solidFill>
                <a:latin typeface="Arimo"/>
                <a:ea typeface="Arimo"/>
                <a:cs typeface="Arimo"/>
                <a:sym typeface="Arimo"/>
              </a:rPr>
              <a:t>gus.D    [1482400038]</a:t>
            </a:r>
          </a:p>
        </p:txBody>
      </p:sp>
      <p:sp>
        <p:nvSpPr>
          <p:cNvPr name="TextBox 36" id="36"/>
          <p:cNvSpPr txBox="true"/>
          <p:nvPr/>
        </p:nvSpPr>
        <p:spPr>
          <a:xfrm rot="0">
            <a:off x="10425116" y="5866314"/>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Rizkia Imelda             [1482400082]</a:t>
            </a:r>
          </a:p>
        </p:txBody>
      </p:sp>
      <p:sp>
        <p:nvSpPr>
          <p:cNvPr name="TextBox 37" id="37"/>
          <p:cNvSpPr txBox="true"/>
          <p:nvPr/>
        </p:nvSpPr>
        <p:spPr>
          <a:xfrm rot="0">
            <a:off x="10425116" y="6773704"/>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Chelsea Sara J.P      [1482400094] </a:t>
            </a:r>
          </a:p>
        </p:txBody>
      </p:sp>
      <p:sp>
        <p:nvSpPr>
          <p:cNvPr name="TextBox 38" id="38"/>
          <p:cNvSpPr txBox="true"/>
          <p:nvPr/>
        </p:nvSpPr>
        <p:spPr>
          <a:xfrm rot="0">
            <a:off x="8894126" y="1431604"/>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Nama Anggota</a:t>
            </a:r>
          </a:p>
        </p:txBody>
      </p:sp>
      <p:sp>
        <p:nvSpPr>
          <p:cNvPr name="Freeform 39" id="39"/>
          <p:cNvSpPr/>
          <p:nvPr/>
        </p:nvSpPr>
        <p:spPr>
          <a:xfrm flipH="false" flipV="false" rot="0">
            <a:off x="6092180" y="-1417826"/>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40" id="40"/>
          <p:cNvSpPr/>
          <p:nvPr/>
        </p:nvSpPr>
        <p:spPr>
          <a:xfrm flipH="false" flipV="false" rot="0">
            <a:off x="-272916" y="9725025"/>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4421100" y="-1453951"/>
            <a:ext cx="5183656" cy="6018759"/>
          </a:xfrm>
          <a:custGeom>
            <a:avLst/>
            <a:gdLst/>
            <a:ahLst/>
            <a:cxnLst/>
            <a:rect r="r" b="b" t="t" l="l"/>
            <a:pathLst>
              <a:path h="6018759" w="5183656">
                <a:moveTo>
                  <a:pt x="0" y="0"/>
                </a:moveTo>
                <a:lnTo>
                  <a:pt x="5183656" y="0"/>
                </a:lnTo>
                <a:lnTo>
                  <a:pt x="5183656" y="6018760"/>
                </a:lnTo>
                <a:lnTo>
                  <a:pt x="0" y="6018760"/>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629750">
            <a:off x="699167" y="7580102"/>
            <a:ext cx="5183656" cy="6018759"/>
          </a:xfrm>
          <a:custGeom>
            <a:avLst/>
            <a:gdLst/>
            <a:ahLst/>
            <a:cxnLst/>
            <a:rect r="r" b="b" t="t" l="l"/>
            <a:pathLst>
              <a:path h="6018759" w="5183656">
                <a:moveTo>
                  <a:pt x="0" y="0"/>
                </a:moveTo>
                <a:lnTo>
                  <a:pt x="5183656" y="0"/>
                </a:lnTo>
                <a:lnTo>
                  <a:pt x="5183656" y="6018759"/>
                </a:lnTo>
                <a:lnTo>
                  <a:pt x="0" y="6018759"/>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155878" y="3277364"/>
            <a:ext cx="8622606" cy="5659176"/>
            <a:chOff x="0" y="0"/>
            <a:chExt cx="2032139" cy="1333739"/>
          </a:xfrm>
        </p:grpSpPr>
        <p:sp>
          <p:nvSpPr>
            <p:cNvPr name="Freeform 6" id="6"/>
            <p:cNvSpPr/>
            <p:nvPr/>
          </p:nvSpPr>
          <p:spPr>
            <a:xfrm flipH="false" flipV="false" rot="0">
              <a:off x="0" y="0"/>
              <a:ext cx="2032139" cy="1333739"/>
            </a:xfrm>
            <a:custGeom>
              <a:avLst/>
              <a:gdLst/>
              <a:ahLst/>
              <a:cxnLst/>
              <a:rect r="r" b="b" t="t" l="l"/>
              <a:pathLst>
                <a:path h="1333739" w="2032139">
                  <a:moveTo>
                    <a:pt x="2032139" y="0"/>
                  </a:moveTo>
                  <a:lnTo>
                    <a:pt x="2032139" y="1333739"/>
                  </a:lnTo>
                  <a:lnTo>
                    <a:pt x="0" y="1333739"/>
                  </a:lnTo>
                  <a:lnTo>
                    <a:pt x="0" y="0"/>
                  </a:lnTo>
                  <a:close/>
                </a:path>
              </a:pathLst>
            </a:custGeom>
            <a:solidFill>
              <a:srgbClr val="7B5EA8"/>
            </a:solidFill>
          </p:spPr>
        </p:sp>
        <p:sp>
          <p:nvSpPr>
            <p:cNvPr name="TextBox 7" id="7"/>
            <p:cNvSpPr txBox="true"/>
            <p:nvPr/>
          </p:nvSpPr>
          <p:spPr>
            <a:xfrm>
              <a:off x="0" y="-47625"/>
              <a:ext cx="2032139" cy="1381364"/>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3072640"/>
            <a:ext cx="8622606" cy="5863900"/>
            <a:chOff x="0" y="0"/>
            <a:chExt cx="2032139" cy="1381988"/>
          </a:xfrm>
        </p:grpSpPr>
        <p:sp>
          <p:nvSpPr>
            <p:cNvPr name="Freeform 9" id="9"/>
            <p:cNvSpPr/>
            <p:nvPr/>
          </p:nvSpPr>
          <p:spPr>
            <a:xfrm flipH="false" flipV="false" rot="0">
              <a:off x="0" y="0"/>
              <a:ext cx="2032139" cy="1381988"/>
            </a:xfrm>
            <a:custGeom>
              <a:avLst/>
              <a:gdLst/>
              <a:ahLst/>
              <a:cxnLst/>
              <a:rect r="r" b="b" t="t" l="l"/>
              <a:pathLst>
                <a:path h="1381988" w="2032139">
                  <a:moveTo>
                    <a:pt x="2032139" y="0"/>
                  </a:moveTo>
                  <a:lnTo>
                    <a:pt x="2032139" y="1381988"/>
                  </a:lnTo>
                  <a:lnTo>
                    <a:pt x="0" y="1381988"/>
                  </a:lnTo>
                  <a:lnTo>
                    <a:pt x="0" y="0"/>
                  </a:lnTo>
                  <a:close/>
                </a:path>
              </a:pathLst>
            </a:custGeom>
            <a:solidFill>
              <a:srgbClr val="D8E264"/>
            </a:solidFill>
          </p:spPr>
        </p:sp>
        <p:sp>
          <p:nvSpPr>
            <p:cNvPr name="TextBox 10" id="10"/>
            <p:cNvSpPr txBox="true"/>
            <p:nvPr/>
          </p:nvSpPr>
          <p:spPr>
            <a:xfrm>
              <a:off x="0" y="-47625"/>
              <a:ext cx="2032139" cy="1429613"/>
            </a:xfrm>
            <a:prstGeom prst="rect">
              <a:avLst/>
            </a:prstGeom>
          </p:spPr>
          <p:txBody>
            <a:bodyPr anchor="ctr" rtlCol="false" tIns="50800" lIns="50800" bIns="50800" rIns="50800"/>
            <a:lstStyle/>
            <a:p>
              <a:pPr algn="ctr">
                <a:lnSpc>
                  <a:spcPts val="2659"/>
                </a:lnSpc>
              </a:pPr>
            </a:p>
          </p:txBody>
        </p:sp>
      </p:grpSp>
      <p:sp>
        <p:nvSpPr>
          <p:cNvPr name="AutoShape 11" id="11"/>
          <p:cNvSpPr/>
          <p:nvPr/>
        </p:nvSpPr>
        <p:spPr>
          <a:xfrm>
            <a:off x="1028700" y="2590578"/>
            <a:ext cx="8749784" cy="0"/>
          </a:xfrm>
          <a:prstGeom prst="line">
            <a:avLst/>
          </a:prstGeom>
          <a:ln cap="flat" w="38100">
            <a:solidFill>
              <a:srgbClr val="000000"/>
            </a:solidFill>
            <a:prstDash val="solid"/>
            <a:headEnd type="none" len="sm" w="sm"/>
            <a:tailEnd type="none" len="sm" w="sm"/>
          </a:ln>
        </p:spPr>
      </p:sp>
      <p:sp>
        <p:nvSpPr>
          <p:cNvPr name="Freeform 12" id="12"/>
          <p:cNvSpPr/>
          <p:nvPr/>
        </p:nvSpPr>
        <p:spPr>
          <a:xfrm flipH="true" flipV="false" rot="0">
            <a:off x="10203383" y="1635195"/>
            <a:ext cx="7964059" cy="7877178"/>
          </a:xfrm>
          <a:custGeom>
            <a:avLst/>
            <a:gdLst/>
            <a:ahLst/>
            <a:cxnLst/>
            <a:rect r="r" b="b" t="t" l="l"/>
            <a:pathLst>
              <a:path h="7877178" w="7964059">
                <a:moveTo>
                  <a:pt x="7964059" y="0"/>
                </a:moveTo>
                <a:lnTo>
                  <a:pt x="0" y="0"/>
                </a:lnTo>
                <a:lnTo>
                  <a:pt x="0" y="7877178"/>
                </a:lnTo>
                <a:lnTo>
                  <a:pt x="7964059" y="7877178"/>
                </a:lnTo>
                <a:lnTo>
                  <a:pt x="7964059"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true" flipV="false" rot="0">
            <a:off x="10123617" y="1555429"/>
            <a:ext cx="7964059" cy="7877178"/>
          </a:xfrm>
          <a:custGeom>
            <a:avLst/>
            <a:gdLst/>
            <a:ahLst/>
            <a:cxnLst/>
            <a:rect r="r" b="b" t="t" l="l"/>
            <a:pathLst>
              <a:path h="7877178" w="7964059">
                <a:moveTo>
                  <a:pt x="7964059" y="0"/>
                </a:moveTo>
                <a:lnTo>
                  <a:pt x="0" y="0"/>
                </a:lnTo>
                <a:lnTo>
                  <a:pt x="0" y="7877178"/>
                </a:lnTo>
                <a:lnTo>
                  <a:pt x="7964059" y="7877178"/>
                </a:lnTo>
                <a:lnTo>
                  <a:pt x="7964059"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9045313" y="8607928"/>
            <a:ext cx="1211986" cy="904445"/>
          </a:xfrm>
          <a:custGeom>
            <a:avLst/>
            <a:gdLst/>
            <a:ahLst/>
            <a:cxnLst/>
            <a:rect r="r" b="b" t="t" l="l"/>
            <a:pathLst>
              <a:path h="904445" w="1211986">
                <a:moveTo>
                  <a:pt x="0" y="0"/>
                </a:moveTo>
                <a:lnTo>
                  <a:pt x="1211986" y="0"/>
                </a:lnTo>
                <a:lnTo>
                  <a:pt x="1211986" y="904445"/>
                </a:lnTo>
                <a:lnTo>
                  <a:pt x="0" y="90444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5993706" y="9708765"/>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0">
            <a:off x="-672922" y="-1389251"/>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4995263">
            <a:off x="13889798" y="289564"/>
            <a:ext cx="511463" cy="1307253"/>
          </a:xfrm>
          <a:custGeom>
            <a:avLst/>
            <a:gdLst/>
            <a:ahLst/>
            <a:cxnLst/>
            <a:rect r="r" b="b" t="t" l="l"/>
            <a:pathLst>
              <a:path h="1307253" w="511463">
                <a:moveTo>
                  <a:pt x="0" y="0"/>
                </a:moveTo>
                <a:lnTo>
                  <a:pt x="511463" y="0"/>
                </a:lnTo>
                <a:lnTo>
                  <a:pt x="511463" y="1307253"/>
                </a:lnTo>
                <a:lnTo>
                  <a:pt x="0" y="130725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8" id="18"/>
          <p:cNvSpPr txBox="true"/>
          <p:nvPr/>
        </p:nvSpPr>
        <p:spPr>
          <a:xfrm rot="0">
            <a:off x="1085766" y="1431604"/>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Latar belakang</a:t>
            </a:r>
          </a:p>
        </p:txBody>
      </p:sp>
      <p:sp>
        <p:nvSpPr>
          <p:cNvPr name="TextBox 19" id="19"/>
          <p:cNvSpPr txBox="true"/>
          <p:nvPr/>
        </p:nvSpPr>
        <p:spPr>
          <a:xfrm rot="0">
            <a:off x="1487408" y="3284048"/>
            <a:ext cx="7491289" cy="5323881"/>
          </a:xfrm>
          <a:prstGeom prst="rect">
            <a:avLst/>
          </a:prstGeom>
        </p:spPr>
        <p:txBody>
          <a:bodyPr anchor="t" rtlCol="false" tIns="0" lIns="0" bIns="0" rIns="0">
            <a:spAutoFit/>
          </a:bodyPr>
          <a:lstStyle/>
          <a:p>
            <a:pPr algn="just">
              <a:lnSpc>
                <a:spcPts val="3544"/>
              </a:lnSpc>
            </a:pPr>
            <a:r>
              <a:rPr lang="en-US" sz="2532">
                <a:solidFill>
                  <a:srgbClr val="000000"/>
                </a:solidFill>
                <a:latin typeface="Arimo"/>
                <a:ea typeface="Arimo"/>
                <a:cs typeface="Arimo"/>
                <a:sym typeface="Arimo"/>
              </a:rPr>
              <a:t>Perkembangan teknologi informasi telah mendorong penggunaan sistem login sebagai mekanisme utama untuk mengamankan akses ke berbagai layanan digital. Namun, meningkatnya penggunaan sistem juga diikuti oleh berbagai ancaman keamanan, seperti percobaan login berulang, akses dari alamat IP yang tidak dikenal, dan login pada waktu yang tidak wajar. Oleh karena itu, diperlukan metode klasifikasi untuk membedakan </a:t>
            </a:r>
            <a:r>
              <a:rPr lang="en-US" sz="2532">
                <a:solidFill>
                  <a:srgbClr val="000000"/>
                </a:solidFill>
                <a:latin typeface="Arimo"/>
                <a:ea typeface="Arimo"/>
                <a:cs typeface="Arimo"/>
                <a:sym typeface="Arimo"/>
              </a:rPr>
              <a:t>aktivitas login normal dan mencurigakan sehingga dapat membantu meningkatkan keamanan sistem melalui deteksi dini terhadap potensi serangan siber.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8945344">
            <a:off x="-3035677" y="-682046"/>
            <a:ext cx="6708807" cy="3421492"/>
          </a:xfrm>
          <a:custGeom>
            <a:avLst/>
            <a:gdLst/>
            <a:ahLst/>
            <a:cxnLst/>
            <a:rect r="r" b="b" t="t" l="l"/>
            <a:pathLst>
              <a:path h="3421492" w="6708807">
                <a:moveTo>
                  <a:pt x="0" y="0"/>
                </a:moveTo>
                <a:lnTo>
                  <a:pt x="6708807" y="0"/>
                </a:lnTo>
                <a:lnTo>
                  <a:pt x="6708807" y="3421492"/>
                </a:lnTo>
                <a:lnTo>
                  <a:pt x="0" y="3421492"/>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20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43317" y="758178"/>
            <a:ext cx="8423265" cy="8926388"/>
          </a:xfrm>
          <a:custGeom>
            <a:avLst/>
            <a:gdLst/>
            <a:ahLst/>
            <a:cxnLst/>
            <a:rect r="r" b="b" t="t" l="l"/>
            <a:pathLst>
              <a:path h="8926388" w="8423265">
                <a:moveTo>
                  <a:pt x="8423265" y="0"/>
                </a:moveTo>
                <a:lnTo>
                  <a:pt x="0" y="0"/>
                </a:lnTo>
                <a:lnTo>
                  <a:pt x="0" y="8926388"/>
                </a:lnTo>
                <a:lnTo>
                  <a:pt x="8423265" y="8926388"/>
                </a:lnTo>
                <a:lnTo>
                  <a:pt x="8423265"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8634846" y="3107485"/>
            <a:ext cx="8497276" cy="1705633"/>
            <a:chOff x="0" y="0"/>
            <a:chExt cx="2648426" cy="531614"/>
          </a:xfrm>
        </p:grpSpPr>
        <p:sp>
          <p:nvSpPr>
            <p:cNvPr name="Freeform 6" id="6"/>
            <p:cNvSpPr/>
            <p:nvPr/>
          </p:nvSpPr>
          <p:spPr>
            <a:xfrm flipH="false" flipV="false" rot="0">
              <a:off x="0" y="0"/>
              <a:ext cx="2648426" cy="531614"/>
            </a:xfrm>
            <a:custGeom>
              <a:avLst/>
              <a:gdLst/>
              <a:ahLst/>
              <a:cxnLst/>
              <a:rect r="r" b="b" t="t" l="l"/>
              <a:pathLst>
                <a:path h="531614" w="2648426">
                  <a:moveTo>
                    <a:pt x="2648426" y="0"/>
                  </a:moveTo>
                  <a:lnTo>
                    <a:pt x="2648426" y="531614"/>
                  </a:lnTo>
                  <a:lnTo>
                    <a:pt x="0" y="531614"/>
                  </a:lnTo>
                  <a:lnTo>
                    <a:pt x="0" y="0"/>
                  </a:lnTo>
                  <a:close/>
                </a:path>
              </a:pathLst>
            </a:custGeom>
            <a:solidFill>
              <a:srgbClr val="7B5EA8"/>
            </a:solidFill>
          </p:spPr>
        </p:sp>
        <p:sp>
          <p:nvSpPr>
            <p:cNvPr name="TextBox 7" id="7"/>
            <p:cNvSpPr txBox="true"/>
            <p:nvPr/>
          </p:nvSpPr>
          <p:spPr>
            <a:xfrm>
              <a:off x="0" y="-47625"/>
              <a:ext cx="2648426" cy="57923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509516" y="3072640"/>
            <a:ext cx="8497276" cy="1624759"/>
            <a:chOff x="0" y="0"/>
            <a:chExt cx="2648426" cy="506407"/>
          </a:xfrm>
        </p:grpSpPr>
        <p:sp>
          <p:nvSpPr>
            <p:cNvPr name="Freeform 9" id="9"/>
            <p:cNvSpPr/>
            <p:nvPr/>
          </p:nvSpPr>
          <p:spPr>
            <a:xfrm flipH="false" flipV="false" rot="0">
              <a:off x="0" y="0"/>
              <a:ext cx="2648426" cy="506407"/>
            </a:xfrm>
            <a:custGeom>
              <a:avLst/>
              <a:gdLst/>
              <a:ahLst/>
              <a:cxnLst/>
              <a:rect r="r" b="b" t="t" l="l"/>
              <a:pathLst>
                <a:path h="506407" w="2648426">
                  <a:moveTo>
                    <a:pt x="2648426" y="0"/>
                  </a:moveTo>
                  <a:lnTo>
                    <a:pt x="2648426" y="506407"/>
                  </a:lnTo>
                  <a:lnTo>
                    <a:pt x="0" y="506407"/>
                  </a:lnTo>
                  <a:lnTo>
                    <a:pt x="0" y="0"/>
                  </a:lnTo>
                  <a:close/>
                </a:path>
              </a:pathLst>
            </a:custGeom>
            <a:solidFill>
              <a:srgbClr val="D8E264"/>
            </a:solidFill>
          </p:spPr>
        </p:sp>
        <p:sp>
          <p:nvSpPr>
            <p:cNvPr name="TextBox 10" id="10"/>
            <p:cNvSpPr txBox="true"/>
            <p:nvPr/>
          </p:nvSpPr>
          <p:spPr>
            <a:xfrm>
              <a:off x="0" y="-47625"/>
              <a:ext cx="2648426" cy="554032"/>
            </a:xfrm>
            <a:prstGeom prst="rect">
              <a:avLst/>
            </a:prstGeom>
          </p:spPr>
          <p:txBody>
            <a:bodyPr anchor="ctr" rtlCol="false" tIns="50800" lIns="50800" bIns="50800" rIns="50800"/>
            <a:lstStyle/>
            <a:p>
              <a:pPr algn="ctr">
                <a:lnSpc>
                  <a:spcPts val="2659"/>
                </a:lnSpc>
              </a:pPr>
            </a:p>
          </p:txBody>
        </p:sp>
      </p:grpSp>
      <p:sp>
        <p:nvSpPr>
          <p:cNvPr name="AutoShape 11" id="11"/>
          <p:cNvSpPr/>
          <p:nvPr/>
        </p:nvSpPr>
        <p:spPr>
          <a:xfrm>
            <a:off x="8509516" y="2590578"/>
            <a:ext cx="8749784" cy="0"/>
          </a:xfrm>
          <a:prstGeom prst="line">
            <a:avLst/>
          </a:prstGeom>
          <a:ln cap="flat" w="38100">
            <a:solidFill>
              <a:srgbClr val="000000"/>
            </a:solidFill>
            <a:prstDash val="solid"/>
            <a:headEnd type="none" len="sm" w="sm"/>
            <a:tailEnd type="none" len="sm" w="sm"/>
          </a:ln>
        </p:spPr>
      </p:sp>
      <p:sp>
        <p:nvSpPr>
          <p:cNvPr name="Freeform 12" id="12"/>
          <p:cNvSpPr/>
          <p:nvPr/>
        </p:nvSpPr>
        <p:spPr>
          <a:xfrm flipH="true" flipV="false" rot="0">
            <a:off x="63773" y="678634"/>
            <a:ext cx="8423265" cy="8926388"/>
          </a:xfrm>
          <a:custGeom>
            <a:avLst/>
            <a:gdLst/>
            <a:ahLst/>
            <a:cxnLst/>
            <a:rect r="r" b="b" t="t" l="l"/>
            <a:pathLst>
              <a:path h="8926388" w="8423265">
                <a:moveTo>
                  <a:pt x="8423264" y="0"/>
                </a:moveTo>
                <a:lnTo>
                  <a:pt x="0" y="0"/>
                </a:lnTo>
                <a:lnTo>
                  <a:pt x="0" y="8926388"/>
                </a:lnTo>
                <a:lnTo>
                  <a:pt x="8423264" y="8926388"/>
                </a:lnTo>
                <a:lnTo>
                  <a:pt x="842326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3" id="13"/>
          <p:cNvSpPr/>
          <p:nvPr/>
        </p:nvSpPr>
        <p:spPr>
          <a:xfrm flipH="false" flipV="false" rot="0">
            <a:off x="15125646" y="-1446206"/>
            <a:ext cx="3657600" cy="2001705"/>
          </a:xfrm>
          <a:custGeom>
            <a:avLst/>
            <a:gdLst/>
            <a:ahLst/>
            <a:cxnLst/>
            <a:rect r="r" b="b" t="t" l="l"/>
            <a:pathLst>
              <a:path h="2001705" w="3657600">
                <a:moveTo>
                  <a:pt x="0" y="0"/>
                </a:moveTo>
                <a:lnTo>
                  <a:pt x="3657600" y="0"/>
                </a:lnTo>
                <a:lnTo>
                  <a:pt x="3657600" y="2001704"/>
                </a:lnTo>
                <a:lnTo>
                  <a:pt x="0" y="200170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6977519" y="581010"/>
            <a:ext cx="1410309" cy="726309"/>
          </a:xfrm>
          <a:custGeom>
            <a:avLst/>
            <a:gdLst/>
            <a:ahLst/>
            <a:cxnLst/>
            <a:rect r="r" b="b" t="t" l="l"/>
            <a:pathLst>
              <a:path h="726309" w="1410309">
                <a:moveTo>
                  <a:pt x="0" y="0"/>
                </a:moveTo>
                <a:lnTo>
                  <a:pt x="1410309" y="0"/>
                </a:lnTo>
                <a:lnTo>
                  <a:pt x="1410309" y="726309"/>
                </a:lnTo>
                <a:lnTo>
                  <a:pt x="0" y="7263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5" id="15"/>
          <p:cNvSpPr txBox="true"/>
          <p:nvPr/>
        </p:nvSpPr>
        <p:spPr>
          <a:xfrm rot="0">
            <a:off x="8566582" y="1431604"/>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Rumusan masalah</a:t>
            </a:r>
          </a:p>
        </p:txBody>
      </p:sp>
      <p:sp>
        <p:nvSpPr>
          <p:cNvPr name="TextBox 16" id="16"/>
          <p:cNvSpPr txBox="true"/>
          <p:nvPr/>
        </p:nvSpPr>
        <p:spPr>
          <a:xfrm rot="0">
            <a:off x="8835737" y="3355024"/>
            <a:ext cx="7844834" cy="995680"/>
          </a:xfrm>
          <a:prstGeom prst="rect">
            <a:avLst/>
          </a:prstGeom>
        </p:spPr>
        <p:txBody>
          <a:bodyPr anchor="t" rtlCol="false" tIns="0" lIns="0" bIns="0" rIns="0">
            <a:spAutoFit/>
          </a:bodyPr>
          <a:lstStyle/>
          <a:p>
            <a:pPr algn="just">
              <a:lnSpc>
                <a:spcPts val="3919"/>
              </a:lnSpc>
            </a:pPr>
            <a:r>
              <a:rPr lang="en-US" sz="2799">
                <a:solidFill>
                  <a:srgbClr val="000000"/>
                </a:solidFill>
                <a:latin typeface="Arimo"/>
                <a:ea typeface="Arimo"/>
                <a:cs typeface="Arimo"/>
                <a:sym typeface="Arimo"/>
              </a:rPr>
              <a:t>Bagaimana karakteristik </a:t>
            </a:r>
            <a:r>
              <a:rPr lang="en-US" sz="2799">
                <a:solidFill>
                  <a:srgbClr val="000000"/>
                </a:solidFill>
                <a:latin typeface="Arimo"/>
                <a:ea typeface="Arimo"/>
                <a:cs typeface="Arimo"/>
                <a:sym typeface="Arimo"/>
              </a:rPr>
              <a:t>aktivitas login normal dan aktivitas login mencurigakan?</a:t>
            </a:r>
          </a:p>
        </p:txBody>
      </p:sp>
      <p:grpSp>
        <p:nvGrpSpPr>
          <p:cNvPr name="Group 17" id="17"/>
          <p:cNvGrpSpPr/>
          <p:nvPr/>
        </p:nvGrpSpPr>
        <p:grpSpPr>
          <a:xfrm rot="0">
            <a:off x="8691912" y="5448039"/>
            <a:ext cx="8497276" cy="1705633"/>
            <a:chOff x="0" y="0"/>
            <a:chExt cx="2648426" cy="531614"/>
          </a:xfrm>
        </p:grpSpPr>
        <p:sp>
          <p:nvSpPr>
            <p:cNvPr name="Freeform 18" id="18"/>
            <p:cNvSpPr/>
            <p:nvPr/>
          </p:nvSpPr>
          <p:spPr>
            <a:xfrm flipH="false" flipV="false" rot="0">
              <a:off x="0" y="0"/>
              <a:ext cx="2648426" cy="531614"/>
            </a:xfrm>
            <a:custGeom>
              <a:avLst/>
              <a:gdLst/>
              <a:ahLst/>
              <a:cxnLst/>
              <a:rect r="r" b="b" t="t" l="l"/>
              <a:pathLst>
                <a:path h="531614" w="2648426">
                  <a:moveTo>
                    <a:pt x="2648426" y="0"/>
                  </a:moveTo>
                  <a:lnTo>
                    <a:pt x="2648426" y="531614"/>
                  </a:lnTo>
                  <a:lnTo>
                    <a:pt x="0" y="531614"/>
                  </a:lnTo>
                  <a:lnTo>
                    <a:pt x="0" y="0"/>
                  </a:lnTo>
                  <a:close/>
                </a:path>
              </a:pathLst>
            </a:custGeom>
            <a:solidFill>
              <a:srgbClr val="7B5EA8"/>
            </a:solidFill>
          </p:spPr>
        </p:sp>
        <p:sp>
          <p:nvSpPr>
            <p:cNvPr name="TextBox 19" id="19"/>
            <p:cNvSpPr txBox="true"/>
            <p:nvPr/>
          </p:nvSpPr>
          <p:spPr>
            <a:xfrm>
              <a:off x="0" y="-47625"/>
              <a:ext cx="2648426" cy="579239"/>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8566582" y="5413194"/>
            <a:ext cx="8497276" cy="1624759"/>
            <a:chOff x="0" y="0"/>
            <a:chExt cx="2648426" cy="506407"/>
          </a:xfrm>
        </p:grpSpPr>
        <p:sp>
          <p:nvSpPr>
            <p:cNvPr name="Freeform 21" id="21"/>
            <p:cNvSpPr/>
            <p:nvPr/>
          </p:nvSpPr>
          <p:spPr>
            <a:xfrm flipH="false" flipV="false" rot="0">
              <a:off x="0" y="0"/>
              <a:ext cx="2648426" cy="506407"/>
            </a:xfrm>
            <a:custGeom>
              <a:avLst/>
              <a:gdLst/>
              <a:ahLst/>
              <a:cxnLst/>
              <a:rect r="r" b="b" t="t" l="l"/>
              <a:pathLst>
                <a:path h="506407" w="2648426">
                  <a:moveTo>
                    <a:pt x="2648426" y="0"/>
                  </a:moveTo>
                  <a:lnTo>
                    <a:pt x="2648426" y="506407"/>
                  </a:lnTo>
                  <a:lnTo>
                    <a:pt x="0" y="506407"/>
                  </a:lnTo>
                  <a:lnTo>
                    <a:pt x="0" y="0"/>
                  </a:lnTo>
                  <a:close/>
                </a:path>
              </a:pathLst>
            </a:custGeom>
            <a:solidFill>
              <a:srgbClr val="D8E264"/>
            </a:solidFill>
          </p:spPr>
        </p:sp>
        <p:sp>
          <p:nvSpPr>
            <p:cNvPr name="TextBox 22" id="22"/>
            <p:cNvSpPr txBox="true"/>
            <p:nvPr/>
          </p:nvSpPr>
          <p:spPr>
            <a:xfrm>
              <a:off x="0" y="-47625"/>
              <a:ext cx="2648426" cy="554032"/>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8835737" y="5755167"/>
            <a:ext cx="7844834" cy="995680"/>
          </a:xfrm>
          <a:prstGeom prst="rect">
            <a:avLst/>
          </a:prstGeom>
        </p:spPr>
        <p:txBody>
          <a:bodyPr anchor="t" rtlCol="false" tIns="0" lIns="0" bIns="0" rIns="0">
            <a:spAutoFit/>
          </a:bodyPr>
          <a:lstStyle/>
          <a:p>
            <a:pPr algn="just">
              <a:lnSpc>
                <a:spcPts val="3919"/>
              </a:lnSpc>
            </a:pPr>
            <a:r>
              <a:rPr lang="en-US" sz="2799">
                <a:solidFill>
                  <a:srgbClr val="000000"/>
                </a:solidFill>
                <a:latin typeface="Arimo"/>
                <a:ea typeface="Arimo"/>
                <a:cs typeface="Arimo"/>
                <a:sym typeface="Arimo"/>
              </a:rPr>
              <a:t>Bagaimana proses </a:t>
            </a:r>
            <a:r>
              <a:rPr lang="en-US" sz="2799">
                <a:solidFill>
                  <a:srgbClr val="000000"/>
                </a:solidFill>
                <a:latin typeface="Arimo"/>
                <a:ea typeface="Arimo"/>
                <a:cs typeface="Arimo"/>
                <a:sym typeface="Arimo"/>
              </a:rPr>
              <a:t>klasifikasi data aktivitas login menggunakan metode klasifikasi?</a:t>
            </a:r>
          </a:p>
        </p:txBody>
      </p:sp>
      <p:grpSp>
        <p:nvGrpSpPr>
          <p:cNvPr name="Group 24" id="24"/>
          <p:cNvGrpSpPr/>
          <p:nvPr/>
        </p:nvGrpSpPr>
        <p:grpSpPr>
          <a:xfrm rot="0">
            <a:off x="8748977" y="7788594"/>
            <a:ext cx="8497276" cy="1705633"/>
            <a:chOff x="0" y="0"/>
            <a:chExt cx="2648426" cy="531614"/>
          </a:xfrm>
        </p:grpSpPr>
        <p:sp>
          <p:nvSpPr>
            <p:cNvPr name="Freeform 25" id="25"/>
            <p:cNvSpPr/>
            <p:nvPr/>
          </p:nvSpPr>
          <p:spPr>
            <a:xfrm flipH="false" flipV="false" rot="0">
              <a:off x="0" y="0"/>
              <a:ext cx="2648426" cy="531614"/>
            </a:xfrm>
            <a:custGeom>
              <a:avLst/>
              <a:gdLst/>
              <a:ahLst/>
              <a:cxnLst/>
              <a:rect r="r" b="b" t="t" l="l"/>
              <a:pathLst>
                <a:path h="531614" w="2648426">
                  <a:moveTo>
                    <a:pt x="2648426" y="0"/>
                  </a:moveTo>
                  <a:lnTo>
                    <a:pt x="2648426" y="531614"/>
                  </a:lnTo>
                  <a:lnTo>
                    <a:pt x="0" y="531614"/>
                  </a:lnTo>
                  <a:lnTo>
                    <a:pt x="0" y="0"/>
                  </a:lnTo>
                  <a:close/>
                </a:path>
              </a:pathLst>
            </a:custGeom>
            <a:solidFill>
              <a:srgbClr val="7B5EA8"/>
            </a:solidFill>
          </p:spPr>
        </p:sp>
        <p:sp>
          <p:nvSpPr>
            <p:cNvPr name="TextBox 26" id="26"/>
            <p:cNvSpPr txBox="true"/>
            <p:nvPr/>
          </p:nvSpPr>
          <p:spPr>
            <a:xfrm>
              <a:off x="0" y="-47625"/>
              <a:ext cx="2648426" cy="579239"/>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8623648" y="7753748"/>
            <a:ext cx="8497276" cy="1624759"/>
            <a:chOff x="0" y="0"/>
            <a:chExt cx="2648426" cy="506407"/>
          </a:xfrm>
        </p:grpSpPr>
        <p:sp>
          <p:nvSpPr>
            <p:cNvPr name="Freeform 28" id="28"/>
            <p:cNvSpPr/>
            <p:nvPr/>
          </p:nvSpPr>
          <p:spPr>
            <a:xfrm flipH="false" flipV="false" rot="0">
              <a:off x="0" y="0"/>
              <a:ext cx="2648426" cy="506407"/>
            </a:xfrm>
            <a:custGeom>
              <a:avLst/>
              <a:gdLst/>
              <a:ahLst/>
              <a:cxnLst/>
              <a:rect r="r" b="b" t="t" l="l"/>
              <a:pathLst>
                <a:path h="506407" w="2648426">
                  <a:moveTo>
                    <a:pt x="2648426" y="0"/>
                  </a:moveTo>
                  <a:lnTo>
                    <a:pt x="2648426" y="506407"/>
                  </a:lnTo>
                  <a:lnTo>
                    <a:pt x="0" y="506407"/>
                  </a:lnTo>
                  <a:lnTo>
                    <a:pt x="0" y="0"/>
                  </a:lnTo>
                  <a:close/>
                </a:path>
              </a:pathLst>
            </a:custGeom>
            <a:solidFill>
              <a:srgbClr val="D8E264"/>
            </a:solidFill>
          </p:spPr>
        </p:sp>
        <p:sp>
          <p:nvSpPr>
            <p:cNvPr name="TextBox 29" id="29"/>
            <p:cNvSpPr txBox="true"/>
            <p:nvPr/>
          </p:nvSpPr>
          <p:spPr>
            <a:xfrm>
              <a:off x="0" y="-47625"/>
              <a:ext cx="2648426" cy="554032"/>
            </a:xfrm>
            <a:prstGeom prst="rect">
              <a:avLst/>
            </a:prstGeom>
          </p:spPr>
          <p:txBody>
            <a:bodyPr anchor="ctr" rtlCol="false" tIns="50800" lIns="50800" bIns="50800" rIns="50800"/>
            <a:lstStyle/>
            <a:p>
              <a:pPr algn="ctr">
                <a:lnSpc>
                  <a:spcPts val="2659"/>
                </a:lnSpc>
              </a:pPr>
            </a:p>
          </p:txBody>
        </p:sp>
      </p:grpSp>
      <p:sp>
        <p:nvSpPr>
          <p:cNvPr name="TextBox 30" id="30"/>
          <p:cNvSpPr txBox="true"/>
          <p:nvPr/>
        </p:nvSpPr>
        <p:spPr>
          <a:xfrm rot="0">
            <a:off x="8949869" y="7884557"/>
            <a:ext cx="7844834" cy="995680"/>
          </a:xfrm>
          <a:prstGeom prst="rect">
            <a:avLst/>
          </a:prstGeom>
        </p:spPr>
        <p:txBody>
          <a:bodyPr anchor="t" rtlCol="false" tIns="0" lIns="0" bIns="0" rIns="0">
            <a:spAutoFit/>
          </a:bodyPr>
          <a:lstStyle/>
          <a:p>
            <a:pPr algn="just">
              <a:lnSpc>
                <a:spcPts val="3920"/>
              </a:lnSpc>
            </a:pPr>
            <a:r>
              <a:rPr lang="en-US" sz="2800">
                <a:solidFill>
                  <a:srgbClr val="000000"/>
                </a:solidFill>
                <a:latin typeface="Arimo"/>
                <a:ea typeface="Arimo"/>
                <a:cs typeface="Arimo"/>
                <a:sym typeface="Arimo"/>
              </a:rPr>
              <a:t>Bagaimana hasil kl</a:t>
            </a:r>
            <a:r>
              <a:rPr lang="en-US" sz="2800">
                <a:solidFill>
                  <a:srgbClr val="000000"/>
                </a:solidFill>
                <a:latin typeface="Arimo"/>
                <a:ea typeface="Arimo"/>
                <a:cs typeface="Arimo"/>
                <a:sym typeface="Arimo"/>
              </a:rPr>
              <a:t>asifikasi dalam mendeteksi aktivitas login yang mencurigakan?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280039">
            <a:off x="9038467" y="5489483"/>
            <a:ext cx="4889020" cy="5794395"/>
          </a:xfrm>
          <a:custGeom>
            <a:avLst/>
            <a:gdLst/>
            <a:ahLst/>
            <a:cxnLst/>
            <a:rect r="r" b="b" t="t" l="l"/>
            <a:pathLst>
              <a:path h="5794395" w="4889020">
                <a:moveTo>
                  <a:pt x="0" y="0"/>
                </a:moveTo>
                <a:lnTo>
                  <a:pt x="4889021" y="0"/>
                </a:lnTo>
                <a:lnTo>
                  <a:pt x="4889021" y="5794395"/>
                </a:lnTo>
                <a:lnTo>
                  <a:pt x="0" y="5794395"/>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738">
            <a:off x="-1061171" y="-2407546"/>
            <a:ext cx="4889020" cy="5794395"/>
          </a:xfrm>
          <a:custGeom>
            <a:avLst/>
            <a:gdLst/>
            <a:ahLst/>
            <a:cxnLst/>
            <a:rect r="r" b="b" t="t" l="l"/>
            <a:pathLst>
              <a:path h="5794395" w="4889020">
                <a:moveTo>
                  <a:pt x="0" y="0"/>
                </a:moveTo>
                <a:lnTo>
                  <a:pt x="4889021" y="0"/>
                </a:lnTo>
                <a:lnTo>
                  <a:pt x="4889021" y="5794394"/>
                </a:lnTo>
                <a:lnTo>
                  <a:pt x="0" y="5794394"/>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9352438" y="2590578"/>
            <a:ext cx="7747604" cy="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804960" y="2040211"/>
            <a:ext cx="10157398" cy="6574607"/>
          </a:xfrm>
          <a:custGeom>
            <a:avLst/>
            <a:gdLst/>
            <a:ahLst/>
            <a:cxnLst/>
            <a:rect r="r" b="b" t="t" l="l"/>
            <a:pathLst>
              <a:path h="6574607" w="10157398">
                <a:moveTo>
                  <a:pt x="0" y="0"/>
                </a:moveTo>
                <a:lnTo>
                  <a:pt x="10157398" y="0"/>
                </a:lnTo>
                <a:lnTo>
                  <a:pt x="10157398" y="6574607"/>
                </a:lnTo>
                <a:lnTo>
                  <a:pt x="0" y="65746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9467364" y="3331060"/>
            <a:ext cx="7791936" cy="5927240"/>
            <a:chOff x="0" y="0"/>
            <a:chExt cx="1836370" cy="1396916"/>
          </a:xfrm>
        </p:grpSpPr>
        <p:sp>
          <p:nvSpPr>
            <p:cNvPr name="Freeform 8" id="8"/>
            <p:cNvSpPr/>
            <p:nvPr/>
          </p:nvSpPr>
          <p:spPr>
            <a:xfrm flipH="false" flipV="false" rot="0">
              <a:off x="0" y="0"/>
              <a:ext cx="1836370" cy="1396916"/>
            </a:xfrm>
            <a:custGeom>
              <a:avLst/>
              <a:gdLst/>
              <a:ahLst/>
              <a:cxnLst/>
              <a:rect r="r" b="b" t="t" l="l"/>
              <a:pathLst>
                <a:path h="1396916" w="1836370">
                  <a:moveTo>
                    <a:pt x="1836370" y="0"/>
                  </a:moveTo>
                  <a:lnTo>
                    <a:pt x="1836370" y="1396916"/>
                  </a:lnTo>
                  <a:lnTo>
                    <a:pt x="0" y="1396916"/>
                  </a:lnTo>
                  <a:lnTo>
                    <a:pt x="0" y="0"/>
                  </a:lnTo>
                  <a:close/>
                </a:path>
              </a:pathLst>
            </a:custGeom>
            <a:solidFill>
              <a:srgbClr val="7B5EA8"/>
            </a:solidFill>
          </p:spPr>
        </p:sp>
        <p:sp>
          <p:nvSpPr>
            <p:cNvPr name="TextBox 9" id="9"/>
            <p:cNvSpPr txBox="true"/>
            <p:nvPr/>
          </p:nvSpPr>
          <p:spPr>
            <a:xfrm>
              <a:off x="0" y="-47625"/>
              <a:ext cx="1836370" cy="1444541"/>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false" flipV="false" rot="0">
            <a:off x="-888560" y="1958123"/>
            <a:ext cx="10157398" cy="6574607"/>
          </a:xfrm>
          <a:custGeom>
            <a:avLst/>
            <a:gdLst/>
            <a:ahLst/>
            <a:cxnLst/>
            <a:rect r="r" b="b" t="t" l="l"/>
            <a:pathLst>
              <a:path h="6574607" w="10157398">
                <a:moveTo>
                  <a:pt x="0" y="0"/>
                </a:moveTo>
                <a:lnTo>
                  <a:pt x="10157398" y="0"/>
                </a:lnTo>
                <a:lnTo>
                  <a:pt x="10157398" y="6574607"/>
                </a:lnTo>
                <a:lnTo>
                  <a:pt x="0" y="65746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1" id="11"/>
          <p:cNvGrpSpPr/>
          <p:nvPr/>
        </p:nvGrpSpPr>
        <p:grpSpPr>
          <a:xfrm rot="0">
            <a:off x="9352438" y="7442646"/>
            <a:ext cx="7791936" cy="1565382"/>
            <a:chOff x="0" y="0"/>
            <a:chExt cx="1836370" cy="368925"/>
          </a:xfrm>
        </p:grpSpPr>
        <p:sp>
          <p:nvSpPr>
            <p:cNvPr name="Freeform 12" id="12"/>
            <p:cNvSpPr/>
            <p:nvPr/>
          </p:nvSpPr>
          <p:spPr>
            <a:xfrm flipH="false" flipV="false" rot="0">
              <a:off x="0" y="0"/>
              <a:ext cx="1836370" cy="368925"/>
            </a:xfrm>
            <a:custGeom>
              <a:avLst/>
              <a:gdLst/>
              <a:ahLst/>
              <a:cxnLst/>
              <a:rect r="r" b="b" t="t" l="l"/>
              <a:pathLst>
                <a:path h="368925" w="1836370">
                  <a:moveTo>
                    <a:pt x="1836370" y="0"/>
                  </a:moveTo>
                  <a:lnTo>
                    <a:pt x="1836370" y="368925"/>
                  </a:lnTo>
                  <a:lnTo>
                    <a:pt x="0" y="368925"/>
                  </a:lnTo>
                  <a:lnTo>
                    <a:pt x="0" y="0"/>
                  </a:lnTo>
                  <a:close/>
                </a:path>
              </a:pathLst>
            </a:custGeom>
            <a:solidFill>
              <a:srgbClr val="D8E264"/>
            </a:solidFill>
          </p:spPr>
        </p:sp>
        <p:sp>
          <p:nvSpPr>
            <p:cNvPr name="TextBox 13" id="13"/>
            <p:cNvSpPr txBox="true"/>
            <p:nvPr/>
          </p:nvSpPr>
          <p:spPr>
            <a:xfrm>
              <a:off x="0" y="-47625"/>
              <a:ext cx="1836370" cy="416550"/>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9467364" y="7984990"/>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4328913" y="8469238"/>
            <a:ext cx="1763267" cy="789062"/>
          </a:xfrm>
          <a:custGeom>
            <a:avLst/>
            <a:gdLst/>
            <a:ahLst/>
            <a:cxnLst/>
            <a:rect r="r" b="b" t="t" l="l"/>
            <a:pathLst>
              <a:path h="789062" w="1763267">
                <a:moveTo>
                  <a:pt x="0" y="0"/>
                </a:moveTo>
                <a:lnTo>
                  <a:pt x="1763267" y="0"/>
                </a:lnTo>
                <a:lnTo>
                  <a:pt x="1763267" y="789062"/>
                </a:lnTo>
                <a:lnTo>
                  <a:pt x="0" y="78906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1093199">
            <a:off x="15721173" y="9429609"/>
            <a:ext cx="1451149" cy="789062"/>
          </a:xfrm>
          <a:custGeom>
            <a:avLst/>
            <a:gdLst/>
            <a:ahLst/>
            <a:cxnLst/>
            <a:rect r="r" b="b" t="t" l="l"/>
            <a:pathLst>
              <a:path h="789062" w="1451149">
                <a:moveTo>
                  <a:pt x="0" y="0"/>
                </a:moveTo>
                <a:lnTo>
                  <a:pt x="1451149" y="0"/>
                </a:lnTo>
                <a:lnTo>
                  <a:pt x="1451149" y="789062"/>
                </a:lnTo>
                <a:lnTo>
                  <a:pt x="0" y="78906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7" id="17"/>
          <p:cNvSpPr txBox="true"/>
          <p:nvPr/>
        </p:nvSpPr>
        <p:spPr>
          <a:xfrm rot="0">
            <a:off x="8894126" y="1431604"/>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Tujuan penelitian</a:t>
            </a:r>
          </a:p>
        </p:txBody>
      </p:sp>
      <p:sp>
        <p:nvSpPr>
          <p:cNvPr name="Freeform 18" id="18"/>
          <p:cNvSpPr/>
          <p:nvPr/>
        </p:nvSpPr>
        <p:spPr>
          <a:xfrm flipH="false" flipV="false" rot="0">
            <a:off x="6092180" y="-1417826"/>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0">
            <a:off x="-272916" y="9725025"/>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nvGrpSpPr>
          <p:cNvPr name="Group 20" id="20"/>
          <p:cNvGrpSpPr/>
          <p:nvPr/>
        </p:nvGrpSpPr>
        <p:grpSpPr>
          <a:xfrm rot="0">
            <a:off x="9268838" y="5529100"/>
            <a:ext cx="7791936" cy="1694472"/>
            <a:chOff x="0" y="0"/>
            <a:chExt cx="1836370" cy="399348"/>
          </a:xfrm>
        </p:grpSpPr>
        <p:sp>
          <p:nvSpPr>
            <p:cNvPr name="Freeform 21" id="21"/>
            <p:cNvSpPr/>
            <p:nvPr/>
          </p:nvSpPr>
          <p:spPr>
            <a:xfrm flipH="false" flipV="false" rot="0">
              <a:off x="0" y="0"/>
              <a:ext cx="1836370" cy="399348"/>
            </a:xfrm>
            <a:custGeom>
              <a:avLst/>
              <a:gdLst/>
              <a:ahLst/>
              <a:cxnLst/>
              <a:rect r="r" b="b" t="t" l="l"/>
              <a:pathLst>
                <a:path h="399348" w="1836370">
                  <a:moveTo>
                    <a:pt x="1836370" y="0"/>
                  </a:moveTo>
                  <a:lnTo>
                    <a:pt x="1836370" y="399348"/>
                  </a:lnTo>
                  <a:lnTo>
                    <a:pt x="0" y="399348"/>
                  </a:lnTo>
                  <a:lnTo>
                    <a:pt x="0" y="0"/>
                  </a:lnTo>
                  <a:close/>
                </a:path>
              </a:pathLst>
            </a:custGeom>
            <a:solidFill>
              <a:srgbClr val="D8E264"/>
            </a:solidFill>
          </p:spPr>
        </p:sp>
        <p:sp>
          <p:nvSpPr>
            <p:cNvPr name="TextBox 22" id="22"/>
            <p:cNvSpPr txBox="true"/>
            <p:nvPr/>
          </p:nvSpPr>
          <p:spPr>
            <a:xfrm>
              <a:off x="0" y="-47625"/>
              <a:ext cx="1836370" cy="446973"/>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9268838" y="3581178"/>
            <a:ext cx="7791936" cy="1664248"/>
            <a:chOff x="0" y="0"/>
            <a:chExt cx="1836370" cy="392225"/>
          </a:xfrm>
        </p:grpSpPr>
        <p:sp>
          <p:nvSpPr>
            <p:cNvPr name="Freeform 24" id="24"/>
            <p:cNvSpPr/>
            <p:nvPr/>
          </p:nvSpPr>
          <p:spPr>
            <a:xfrm flipH="false" flipV="false" rot="0">
              <a:off x="0" y="0"/>
              <a:ext cx="1836370" cy="392225"/>
            </a:xfrm>
            <a:custGeom>
              <a:avLst/>
              <a:gdLst/>
              <a:ahLst/>
              <a:cxnLst/>
              <a:rect r="r" b="b" t="t" l="l"/>
              <a:pathLst>
                <a:path h="392225" w="1836370">
                  <a:moveTo>
                    <a:pt x="1836370" y="0"/>
                  </a:moveTo>
                  <a:lnTo>
                    <a:pt x="1836370" y="392225"/>
                  </a:lnTo>
                  <a:lnTo>
                    <a:pt x="0" y="392225"/>
                  </a:lnTo>
                  <a:lnTo>
                    <a:pt x="0" y="0"/>
                  </a:lnTo>
                  <a:close/>
                </a:path>
              </a:pathLst>
            </a:custGeom>
            <a:solidFill>
              <a:srgbClr val="D8E264"/>
            </a:solidFill>
          </p:spPr>
        </p:sp>
        <p:sp>
          <p:nvSpPr>
            <p:cNvPr name="TextBox 25" id="25"/>
            <p:cNvSpPr txBox="true"/>
            <p:nvPr/>
          </p:nvSpPr>
          <p:spPr>
            <a:xfrm>
              <a:off x="0" y="-47625"/>
              <a:ext cx="1836370" cy="439850"/>
            </a:xfrm>
            <a:prstGeom prst="rect">
              <a:avLst/>
            </a:prstGeom>
          </p:spPr>
          <p:txBody>
            <a:bodyPr anchor="ctr" rtlCol="false" tIns="50800" lIns="50800" bIns="50800" rIns="50800"/>
            <a:lstStyle/>
            <a:p>
              <a:pPr algn="ctr">
                <a:lnSpc>
                  <a:spcPts val="2659"/>
                </a:lnSpc>
              </a:pPr>
            </a:p>
          </p:txBody>
        </p:sp>
      </p:grpSp>
      <p:sp>
        <p:nvSpPr>
          <p:cNvPr name="Freeform 26" id="26"/>
          <p:cNvSpPr/>
          <p:nvPr/>
        </p:nvSpPr>
        <p:spPr>
          <a:xfrm flipH="false" flipV="false" rot="0">
            <a:off x="9560893" y="6135988"/>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7" id="27"/>
          <p:cNvSpPr/>
          <p:nvPr/>
        </p:nvSpPr>
        <p:spPr>
          <a:xfrm flipH="false" flipV="false" rot="0">
            <a:off x="9560893" y="4091940"/>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10291567" y="4034790"/>
            <a:ext cx="5913677" cy="834390"/>
          </a:xfrm>
          <a:prstGeom prst="rect">
            <a:avLst/>
          </a:prstGeom>
        </p:spPr>
        <p:txBody>
          <a:bodyPr anchor="t" rtlCol="false" tIns="0" lIns="0" bIns="0" rIns="0">
            <a:spAutoFit/>
          </a:bodyPr>
          <a:lstStyle/>
          <a:p>
            <a:pPr algn="just">
              <a:lnSpc>
                <a:spcPts val="3359"/>
              </a:lnSpc>
            </a:pPr>
            <a:r>
              <a:rPr lang="en-US" sz="2400">
                <a:solidFill>
                  <a:srgbClr val="000000"/>
                </a:solidFill>
                <a:latin typeface="Arimo"/>
                <a:ea typeface="Arimo"/>
                <a:cs typeface="Arimo"/>
                <a:sym typeface="Arimo"/>
              </a:rPr>
              <a:t>Me</a:t>
            </a:r>
            <a:r>
              <a:rPr lang="en-US" sz="2400">
                <a:solidFill>
                  <a:srgbClr val="000000"/>
                </a:solidFill>
                <a:latin typeface="Arimo"/>
                <a:ea typeface="Arimo"/>
                <a:cs typeface="Arimo"/>
                <a:sym typeface="Arimo"/>
              </a:rPr>
              <a:t>ngidentifikasi karakteristik aktivitas login normal dan aktivitas login mencurigakan</a:t>
            </a:r>
          </a:p>
        </p:txBody>
      </p:sp>
      <p:sp>
        <p:nvSpPr>
          <p:cNvPr name="TextBox 29" id="29"/>
          <p:cNvSpPr txBox="true"/>
          <p:nvPr/>
        </p:nvSpPr>
        <p:spPr>
          <a:xfrm rot="0">
            <a:off x="10250044" y="5721015"/>
            <a:ext cx="6412288" cy="1253490"/>
          </a:xfrm>
          <a:prstGeom prst="rect">
            <a:avLst/>
          </a:prstGeom>
        </p:spPr>
        <p:txBody>
          <a:bodyPr anchor="t" rtlCol="false" tIns="0" lIns="0" bIns="0" rIns="0">
            <a:spAutoFit/>
          </a:bodyPr>
          <a:lstStyle/>
          <a:p>
            <a:pPr algn="just">
              <a:lnSpc>
                <a:spcPts val="3359"/>
              </a:lnSpc>
            </a:pPr>
            <a:r>
              <a:rPr lang="en-US" sz="2400">
                <a:solidFill>
                  <a:srgbClr val="000000"/>
                </a:solidFill>
                <a:latin typeface="Arimo"/>
                <a:ea typeface="Arimo"/>
                <a:cs typeface="Arimo"/>
                <a:sym typeface="Arimo"/>
              </a:rPr>
              <a:t>Me</a:t>
            </a:r>
            <a:r>
              <a:rPr lang="en-US" sz="2400">
                <a:solidFill>
                  <a:srgbClr val="000000"/>
                </a:solidFill>
                <a:latin typeface="Arimo"/>
                <a:ea typeface="Arimo"/>
                <a:cs typeface="Arimo"/>
                <a:sym typeface="Arimo"/>
              </a:rPr>
              <a:t>nerapkan metode klasifikasi menggunakan algoritma Random Forest pada data aktivitas login.</a:t>
            </a:r>
          </a:p>
        </p:txBody>
      </p:sp>
      <p:sp>
        <p:nvSpPr>
          <p:cNvPr name="TextBox 30" id="30"/>
          <p:cNvSpPr txBox="true"/>
          <p:nvPr/>
        </p:nvSpPr>
        <p:spPr>
          <a:xfrm rot="0">
            <a:off x="10148084" y="7610279"/>
            <a:ext cx="6616207" cy="1253490"/>
          </a:xfrm>
          <a:prstGeom prst="rect">
            <a:avLst/>
          </a:prstGeom>
        </p:spPr>
        <p:txBody>
          <a:bodyPr anchor="t" rtlCol="false" tIns="0" lIns="0" bIns="0" rIns="0">
            <a:spAutoFit/>
          </a:bodyPr>
          <a:lstStyle/>
          <a:p>
            <a:pPr algn="just">
              <a:lnSpc>
                <a:spcPts val="3359"/>
              </a:lnSpc>
            </a:pPr>
            <a:r>
              <a:rPr lang="en-US" sz="2400">
                <a:solidFill>
                  <a:srgbClr val="000000"/>
                </a:solidFill>
                <a:latin typeface="Arimo"/>
                <a:ea typeface="Arimo"/>
                <a:cs typeface="Arimo"/>
                <a:sym typeface="Arimo"/>
              </a:rPr>
              <a:t>Me</a:t>
            </a:r>
            <a:r>
              <a:rPr lang="en-US" sz="2400">
                <a:solidFill>
                  <a:srgbClr val="000000"/>
                </a:solidFill>
                <a:latin typeface="Arimo"/>
                <a:ea typeface="Arimo"/>
                <a:cs typeface="Arimo"/>
                <a:sym typeface="Arimo"/>
              </a:rPr>
              <a:t>nganalisis hasil klasifikasi untuk mengetahui kemampuan model dalam mendeteksi aktivitas login yang mencurigakan.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8945344">
            <a:off x="768913" y="6623691"/>
            <a:ext cx="6708807" cy="3421492"/>
          </a:xfrm>
          <a:custGeom>
            <a:avLst/>
            <a:gdLst/>
            <a:ahLst/>
            <a:cxnLst/>
            <a:rect r="r" b="b" t="t" l="l"/>
            <a:pathLst>
              <a:path h="3421492" w="6708807">
                <a:moveTo>
                  <a:pt x="0" y="0"/>
                </a:moveTo>
                <a:lnTo>
                  <a:pt x="6708807" y="0"/>
                </a:lnTo>
                <a:lnTo>
                  <a:pt x="6708807" y="3421492"/>
                </a:lnTo>
                <a:lnTo>
                  <a:pt x="0" y="3421492"/>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551816">
            <a:off x="9273784" y="-2128971"/>
            <a:ext cx="7593675" cy="3872774"/>
          </a:xfrm>
          <a:custGeom>
            <a:avLst/>
            <a:gdLst/>
            <a:ahLst/>
            <a:cxnLst/>
            <a:rect r="r" b="b" t="t" l="l"/>
            <a:pathLst>
              <a:path h="3872774" w="7593675">
                <a:moveTo>
                  <a:pt x="0" y="0"/>
                </a:moveTo>
                <a:lnTo>
                  <a:pt x="7593674" y="0"/>
                </a:lnTo>
                <a:lnTo>
                  <a:pt x="7593674" y="3872774"/>
                </a:lnTo>
                <a:lnTo>
                  <a:pt x="0" y="3872774"/>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210518"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155878" y="3250080"/>
            <a:ext cx="8622606" cy="5805110"/>
            <a:chOff x="0" y="0"/>
            <a:chExt cx="2032139" cy="1368132"/>
          </a:xfrm>
        </p:grpSpPr>
        <p:sp>
          <p:nvSpPr>
            <p:cNvPr name="Freeform 6" id="6"/>
            <p:cNvSpPr/>
            <p:nvPr/>
          </p:nvSpPr>
          <p:spPr>
            <a:xfrm flipH="false" flipV="false" rot="0">
              <a:off x="0" y="0"/>
              <a:ext cx="2032139" cy="1368132"/>
            </a:xfrm>
            <a:custGeom>
              <a:avLst/>
              <a:gdLst/>
              <a:ahLst/>
              <a:cxnLst/>
              <a:rect r="r" b="b" t="t" l="l"/>
              <a:pathLst>
                <a:path h="1368132" w="2032139">
                  <a:moveTo>
                    <a:pt x="2032139" y="0"/>
                  </a:moveTo>
                  <a:lnTo>
                    <a:pt x="2032139" y="1368132"/>
                  </a:lnTo>
                  <a:lnTo>
                    <a:pt x="0" y="1368132"/>
                  </a:lnTo>
                  <a:lnTo>
                    <a:pt x="0" y="0"/>
                  </a:lnTo>
                  <a:close/>
                </a:path>
              </a:pathLst>
            </a:custGeom>
            <a:solidFill>
              <a:srgbClr val="7B5EA8"/>
            </a:solidFill>
          </p:spPr>
        </p:sp>
        <p:sp>
          <p:nvSpPr>
            <p:cNvPr name="TextBox 7" id="7"/>
            <p:cNvSpPr txBox="true"/>
            <p:nvPr/>
          </p:nvSpPr>
          <p:spPr>
            <a:xfrm>
              <a:off x="0" y="-47625"/>
              <a:ext cx="2032139" cy="1415757"/>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3072640"/>
            <a:ext cx="8622606" cy="5805970"/>
            <a:chOff x="0" y="0"/>
            <a:chExt cx="2032139" cy="1368335"/>
          </a:xfrm>
        </p:grpSpPr>
        <p:sp>
          <p:nvSpPr>
            <p:cNvPr name="Freeform 9" id="9"/>
            <p:cNvSpPr/>
            <p:nvPr/>
          </p:nvSpPr>
          <p:spPr>
            <a:xfrm flipH="false" flipV="false" rot="0">
              <a:off x="0" y="0"/>
              <a:ext cx="2032139" cy="1368335"/>
            </a:xfrm>
            <a:custGeom>
              <a:avLst/>
              <a:gdLst/>
              <a:ahLst/>
              <a:cxnLst/>
              <a:rect r="r" b="b" t="t" l="l"/>
              <a:pathLst>
                <a:path h="1368335" w="2032139">
                  <a:moveTo>
                    <a:pt x="2032139" y="0"/>
                  </a:moveTo>
                  <a:lnTo>
                    <a:pt x="2032139" y="1368335"/>
                  </a:lnTo>
                  <a:lnTo>
                    <a:pt x="0" y="1368335"/>
                  </a:lnTo>
                  <a:lnTo>
                    <a:pt x="0" y="0"/>
                  </a:lnTo>
                  <a:close/>
                </a:path>
              </a:pathLst>
            </a:custGeom>
            <a:solidFill>
              <a:srgbClr val="D8E264"/>
            </a:solidFill>
          </p:spPr>
        </p:sp>
        <p:sp>
          <p:nvSpPr>
            <p:cNvPr name="TextBox 10" id="10"/>
            <p:cNvSpPr txBox="true"/>
            <p:nvPr/>
          </p:nvSpPr>
          <p:spPr>
            <a:xfrm>
              <a:off x="0" y="-47625"/>
              <a:ext cx="2032139" cy="1415960"/>
            </a:xfrm>
            <a:prstGeom prst="rect">
              <a:avLst/>
            </a:prstGeom>
          </p:spPr>
          <p:txBody>
            <a:bodyPr anchor="ctr" rtlCol="false" tIns="50800" lIns="50800" bIns="50800" rIns="50800"/>
            <a:lstStyle/>
            <a:p>
              <a:pPr algn="ctr">
                <a:lnSpc>
                  <a:spcPts val="2659"/>
                </a:lnSpc>
              </a:pPr>
            </a:p>
          </p:txBody>
        </p:sp>
      </p:grpSp>
      <p:sp>
        <p:nvSpPr>
          <p:cNvPr name="AutoShape 11" id="11"/>
          <p:cNvSpPr/>
          <p:nvPr/>
        </p:nvSpPr>
        <p:spPr>
          <a:xfrm>
            <a:off x="1028700" y="2590578"/>
            <a:ext cx="8749784" cy="0"/>
          </a:xfrm>
          <a:prstGeom prst="line">
            <a:avLst/>
          </a:prstGeom>
          <a:ln cap="flat" w="38100">
            <a:solidFill>
              <a:srgbClr val="000000"/>
            </a:solidFill>
            <a:prstDash val="solid"/>
            <a:headEnd type="none" len="sm" w="sm"/>
            <a:tailEnd type="none" len="sm" w="sm"/>
          </a:ln>
        </p:spPr>
      </p:sp>
      <p:sp>
        <p:nvSpPr>
          <p:cNvPr name="Freeform 12" id="12"/>
          <p:cNvSpPr/>
          <p:nvPr/>
        </p:nvSpPr>
        <p:spPr>
          <a:xfrm flipH="false" flipV="false" rot="0">
            <a:off x="10093495" y="3569731"/>
            <a:ext cx="8631139" cy="7140306"/>
          </a:xfrm>
          <a:custGeom>
            <a:avLst/>
            <a:gdLst/>
            <a:ahLst/>
            <a:cxnLst/>
            <a:rect r="r" b="b" t="t" l="l"/>
            <a:pathLst>
              <a:path h="7140306" w="8631139">
                <a:moveTo>
                  <a:pt x="0" y="0"/>
                </a:moveTo>
                <a:lnTo>
                  <a:pt x="8631140" y="0"/>
                </a:lnTo>
                <a:lnTo>
                  <a:pt x="8631140" y="7140307"/>
                </a:lnTo>
                <a:lnTo>
                  <a:pt x="0" y="714030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0109405" y="3569731"/>
            <a:ext cx="8539029" cy="7064106"/>
          </a:xfrm>
          <a:custGeom>
            <a:avLst/>
            <a:gdLst/>
            <a:ahLst/>
            <a:cxnLst/>
            <a:rect r="r" b="b" t="t" l="l"/>
            <a:pathLst>
              <a:path h="7064106" w="8539029">
                <a:moveTo>
                  <a:pt x="0" y="0"/>
                </a:moveTo>
                <a:lnTo>
                  <a:pt x="8539030" y="0"/>
                </a:lnTo>
                <a:lnTo>
                  <a:pt x="8539030" y="7064107"/>
                </a:lnTo>
                <a:lnTo>
                  <a:pt x="0" y="706410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3004519">
            <a:off x="-19520" y="8518771"/>
            <a:ext cx="1649691" cy="719677"/>
          </a:xfrm>
          <a:custGeom>
            <a:avLst/>
            <a:gdLst/>
            <a:ahLst/>
            <a:cxnLst/>
            <a:rect r="r" b="b" t="t" l="l"/>
            <a:pathLst>
              <a:path h="719677" w="1649691">
                <a:moveTo>
                  <a:pt x="0" y="0"/>
                </a:moveTo>
                <a:lnTo>
                  <a:pt x="1649691" y="0"/>
                </a:lnTo>
                <a:lnTo>
                  <a:pt x="1649691" y="719678"/>
                </a:lnTo>
                <a:lnTo>
                  <a:pt x="0" y="7196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0559013" y="649888"/>
            <a:ext cx="1014611" cy="905541"/>
          </a:xfrm>
          <a:custGeom>
            <a:avLst/>
            <a:gdLst/>
            <a:ahLst/>
            <a:cxnLst/>
            <a:rect r="r" b="b" t="t" l="l"/>
            <a:pathLst>
              <a:path h="905541" w="1014611">
                <a:moveTo>
                  <a:pt x="0" y="0"/>
                </a:moveTo>
                <a:lnTo>
                  <a:pt x="1014612" y="0"/>
                </a:lnTo>
                <a:lnTo>
                  <a:pt x="1014612" y="905541"/>
                </a:lnTo>
                <a:lnTo>
                  <a:pt x="0" y="90554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6" id="16"/>
          <p:cNvSpPr txBox="true"/>
          <p:nvPr/>
        </p:nvSpPr>
        <p:spPr>
          <a:xfrm rot="0">
            <a:off x="1085766" y="1431604"/>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Landasan Teori</a:t>
            </a:r>
          </a:p>
        </p:txBody>
      </p:sp>
      <p:sp>
        <p:nvSpPr>
          <p:cNvPr name="TextBox 17" id="17"/>
          <p:cNvSpPr txBox="true"/>
          <p:nvPr/>
        </p:nvSpPr>
        <p:spPr>
          <a:xfrm rot="0">
            <a:off x="1441567" y="3247948"/>
            <a:ext cx="7952624" cy="5398204"/>
          </a:xfrm>
          <a:prstGeom prst="rect">
            <a:avLst/>
          </a:prstGeom>
        </p:spPr>
        <p:txBody>
          <a:bodyPr anchor="t" rtlCol="false" tIns="0" lIns="0" bIns="0" rIns="0">
            <a:spAutoFit/>
          </a:bodyPr>
          <a:lstStyle/>
          <a:p>
            <a:pPr algn="just">
              <a:lnSpc>
                <a:spcPts val="3591"/>
              </a:lnSpc>
            </a:pPr>
            <a:r>
              <a:rPr lang="en-US" sz="2565">
                <a:solidFill>
                  <a:srgbClr val="000000"/>
                </a:solidFill>
                <a:latin typeface="Arimo"/>
                <a:ea typeface="Arimo"/>
                <a:cs typeface="Arimo"/>
                <a:sym typeface="Arimo"/>
              </a:rPr>
              <a:t>Sistem login merupakan mekanisme autentikasi yang digunakan untuk memverifikasi identitas pengguna sebelum diberikan akses ke dalam sistem. Untuk menjaga keamanan sistem informasi, diperlukan proses klasifikasi yang mampu membedakan aktivitas login normal dan aktivitas login mencurigakan berdasarkan karakteristik da</a:t>
            </a:r>
            <a:r>
              <a:rPr lang="en-US" sz="2565">
                <a:solidFill>
                  <a:srgbClr val="000000"/>
                </a:solidFill>
                <a:latin typeface="Arimo"/>
                <a:ea typeface="Arimo"/>
                <a:cs typeface="Arimo"/>
                <a:sym typeface="Arimo"/>
              </a:rPr>
              <a:t>ta. Dalam penelitian ini, digunakan algoritma Random Forest, yaitu metode klasifikasi berbasis kumpulan Decision Tree yang mampu meningkatkan akurasi dan stabilitas dalam mendeteksi aktivitas login yang berpotensi mengancam keamanan sistem.</a:t>
            </a:r>
          </a:p>
        </p:txBody>
      </p:sp>
      <p:sp>
        <p:nvSpPr>
          <p:cNvPr name="Freeform 18" id="18"/>
          <p:cNvSpPr/>
          <p:nvPr/>
        </p:nvSpPr>
        <p:spPr>
          <a:xfrm flipH="false" flipV="false" rot="0">
            <a:off x="3931710" y="9286148"/>
            <a:ext cx="3657600" cy="2001705"/>
          </a:xfrm>
          <a:custGeom>
            <a:avLst/>
            <a:gdLst/>
            <a:ahLst/>
            <a:cxnLst/>
            <a:rect r="r" b="b" t="t" l="l"/>
            <a:pathLst>
              <a:path h="2001705" w="3657600">
                <a:moveTo>
                  <a:pt x="0" y="0"/>
                </a:moveTo>
                <a:lnTo>
                  <a:pt x="3657600" y="0"/>
                </a:lnTo>
                <a:lnTo>
                  <a:pt x="3657600" y="2001704"/>
                </a:lnTo>
                <a:lnTo>
                  <a:pt x="0" y="200170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280039">
            <a:off x="9090531" y="5433524"/>
            <a:ext cx="4889020" cy="5794395"/>
          </a:xfrm>
          <a:custGeom>
            <a:avLst/>
            <a:gdLst/>
            <a:ahLst/>
            <a:cxnLst/>
            <a:rect r="r" b="b" t="t" l="l"/>
            <a:pathLst>
              <a:path h="5794395" w="4889020">
                <a:moveTo>
                  <a:pt x="0" y="0"/>
                </a:moveTo>
                <a:lnTo>
                  <a:pt x="4889020" y="0"/>
                </a:lnTo>
                <a:lnTo>
                  <a:pt x="4889020" y="5794395"/>
                </a:lnTo>
                <a:lnTo>
                  <a:pt x="0" y="5794395"/>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31738">
            <a:off x="-1061171" y="-2407546"/>
            <a:ext cx="4889020" cy="5794395"/>
          </a:xfrm>
          <a:custGeom>
            <a:avLst/>
            <a:gdLst/>
            <a:ahLst/>
            <a:cxnLst/>
            <a:rect r="r" b="b" t="t" l="l"/>
            <a:pathLst>
              <a:path h="5794395" w="4889020">
                <a:moveTo>
                  <a:pt x="0" y="0"/>
                </a:moveTo>
                <a:lnTo>
                  <a:pt x="4889021" y="0"/>
                </a:lnTo>
                <a:lnTo>
                  <a:pt x="4889021" y="5794394"/>
                </a:lnTo>
                <a:lnTo>
                  <a:pt x="0" y="5794394"/>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5270198" y="1788010"/>
            <a:ext cx="7747604" cy="0"/>
          </a:xfrm>
          <a:prstGeom prst="line">
            <a:avLst/>
          </a:prstGeom>
          <a:ln cap="flat" w="38100">
            <a:solidFill>
              <a:srgbClr val="000000"/>
            </a:solidFill>
            <a:prstDash val="solid"/>
            <a:headEnd type="none" len="sm" w="sm"/>
            <a:tailEnd type="none" len="sm" w="sm"/>
          </a:ln>
        </p:spPr>
      </p:sp>
      <p:sp>
        <p:nvSpPr>
          <p:cNvPr name="Freeform 6" id="6"/>
          <p:cNvSpPr/>
          <p:nvPr/>
        </p:nvSpPr>
        <p:spPr>
          <a:xfrm flipH="false" flipV="false" rot="0">
            <a:off x="4369258" y="9195446"/>
            <a:ext cx="1763267" cy="789062"/>
          </a:xfrm>
          <a:custGeom>
            <a:avLst/>
            <a:gdLst/>
            <a:ahLst/>
            <a:cxnLst/>
            <a:rect r="r" b="b" t="t" l="l"/>
            <a:pathLst>
              <a:path h="789062" w="1763267">
                <a:moveTo>
                  <a:pt x="0" y="0"/>
                </a:moveTo>
                <a:lnTo>
                  <a:pt x="1763267" y="0"/>
                </a:lnTo>
                <a:lnTo>
                  <a:pt x="1763267" y="789062"/>
                </a:lnTo>
                <a:lnTo>
                  <a:pt x="0" y="789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093199">
            <a:off x="15721173" y="8593762"/>
            <a:ext cx="1451149" cy="789062"/>
          </a:xfrm>
          <a:custGeom>
            <a:avLst/>
            <a:gdLst/>
            <a:ahLst/>
            <a:cxnLst/>
            <a:rect r="r" b="b" t="t" l="l"/>
            <a:pathLst>
              <a:path h="789062" w="1451149">
                <a:moveTo>
                  <a:pt x="0" y="0"/>
                </a:moveTo>
                <a:lnTo>
                  <a:pt x="1451149" y="0"/>
                </a:lnTo>
                <a:lnTo>
                  <a:pt x="1451149" y="789062"/>
                </a:lnTo>
                <a:lnTo>
                  <a:pt x="0" y="78906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4811886" y="768835"/>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Aktifitas Login</a:t>
            </a:r>
          </a:p>
        </p:txBody>
      </p:sp>
      <p:sp>
        <p:nvSpPr>
          <p:cNvPr name="Freeform 9" id="9"/>
          <p:cNvSpPr/>
          <p:nvPr/>
        </p:nvSpPr>
        <p:spPr>
          <a:xfrm flipH="false" flipV="false" rot="0">
            <a:off x="6092180" y="-1417826"/>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272916" y="9725025"/>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757987" y="3331060"/>
            <a:ext cx="7791936" cy="5363871"/>
            <a:chOff x="0" y="0"/>
            <a:chExt cx="1836370" cy="1264142"/>
          </a:xfrm>
        </p:grpSpPr>
        <p:sp>
          <p:nvSpPr>
            <p:cNvPr name="Freeform 12" id="12"/>
            <p:cNvSpPr/>
            <p:nvPr/>
          </p:nvSpPr>
          <p:spPr>
            <a:xfrm flipH="false" flipV="false" rot="0">
              <a:off x="0" y="0"/>
              <a:ext cx="1836370" cy="1264142"/>
            </a:xfrm>
            <a:custGeom>
              <a:avLst/>
              <a:gdLst/>
              <a:ahLst/>
              <a:cxnLst/>
              <a:rect r="r" b="b" t="t" l="l"/>
              <a:pathLst>
                <a:path h="1264142" w="1836370">
                  <a:moveTo>
                    <a:pt x="1836370" y="0"/>
                  </a:moveTo>
                  <a:lnTo>
                    <a:pt x="1836370" y="1264142"/>
                  </a:lnTo>
                  <a:lnTo>
                    <a:pt x="0" y="1264142"/>
                  </a:lnTo>
                  <a:lnTo>
                    <a:pt x="0" y="0"/>
                  </a:lnTo>
                  <a:close/>
                </a:path>
              </a:pathLst>
            </a:custGeom>
            <a:solidFill>
              <a:srgbClr val="7B5EA8"/>
            </a:solidFill>
          </p:spPr>
        </p:sp>
        <p:sp>
          <p:nvSpPr>
            <p:cNvPr name="TextBox 13" id="13"/>
            <p:cNvSpPr txBox="true"/>
            <p:nvPr/>
          </p:nvSpPr>
          <p:spPr>
            <a:xfrm>
              <a:off x="0" y="-47625"/>
              <a:ext cx="1836370" cy="1311767"/>
            </a:xfrm>
            <a:prstGeom prst="rect">
              <a:avLst/>
            </a:prstGeom>
          </p:spPr>
          <p:txBody>
            <a:bodyPr anchor="ctr" rtlCol="false" tIns="50800" lIns="50800" bIns="50800" rIns="50800"/>
            <a:lstStyle/>
            <a:p>
              <a:pPr algn="ctr">
                <a:lnSpc>
                  <a:spcPts val="2659"/>
                </a:lnSpc>
              </a:pPr>
            </a:p>
          </p:txBody>
        </p:sp>
      </p:grpSp>
      <p:sp>
        <p:nvSpPr>
          <p:cNvPr name="Freeform 14" id="14"/>
          <p:cNvSpPr/>
          <p:nvPr/>
        </p:nvSpPr>
        <p:spPr>
          <a:xfrm flipH="false" flipV="false" rot="0">
            <a:off x="800055" y="6468570"/>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15" id="15"/>
          <p:cNvGrpSpPr/>
          <p:nvPr/>
        </p:nvGrpSpPr>
        <p:grpSpPr>
          <a:xfrm rot="0">
            <a:off x="534810" y="3564435"/>
            <a:ext cx="7791936" cy="993115"/>
            <a:chOff x="0" y="0"/>
            <a:chExt cx="1836370" cy="234055"/>
          </a:xfrm>
        </p:grpSpPr>
        <p:sp>
          <p:nvSpPr>
            <p:cNvPr name="Freeform 16" id="16"/>
            <p:cNvSpPr/>
            <p:nvPr/>
          </p:nvSpPr>
          <p:spPr>
            <a:xfrm flipH="false" flipV="false" rot="0">
              <a:off x="0" y="0"/>
              <a:ext cx="1836370" cy="234055"/>
            </a:xfrm>
            <a:custGeom>
              <a:avLst/>
              <a:gdLst/>
              <a:ahLst/>
              <a:cxnLst/>
              <a:rect r="r" b="b" t="t" l="l"/>
              <a:pathLst>
                <a:path h="234055" w="1836370">
                  <a:moveTo>
                    <a:pt x="1836370" y="0"/>
                  </a:moveTo>
                  <a:lnTo>
                    <a:pt x="1836370" y="234055"/>
                  </a:lnTo>
                  <a:lnTo>
                    <a:pt x="0" y="234055"/>
                  </a:lnTo>
                  <a:lnTo>
                    <a:pt x="0" y="0"/>
                  </a:lnTo>
                  <a:close/>
                </a:path>
              </a:pathLst>
            </a:custGeom>
            <a:solidFill>
              <a:srgbClr val="D8E264"/>
            </a:solidFill>
          </p:spPr>
        </p:sp>
        <p:sp>
          <p:nvSpPr>
            <p:cNvPr name="TextBox 17" id="17"/>
            <p:cNvSpPr txBox="true"/>
            <p:nvPr/>
          </p:nvSpPr>
          <p:spPr>
            <a:xfrm>
              <a:off x="0" y="-47625"/>
              <a:ext cx="1836370" cy="28168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800055" y="5143500"/>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9" id="19"/>
          <p:cNvSpPr/>
          <p:nvPr/>
        </p:nvSpPr>
        <p:spPr>
          <a:xfrm flipH="false" flipV="false" rot="0">
            <a:off x="779929" y="3800643"/>
            <a:ext cx="480695" cy="480695"/>
          </a:xfrm>
          <a:custGeom>
            <a:avLst/>
            <a:gdLst/>
            <a:ahLst/>
            <a:cxnLst/>
            <a:rect r="r" b="b" t="t" l="l"/>
            <a:pathLst>
              <a:path h="480695" w="480695">
                <a:moveTo>
                  <a:pt x="0" y="0"/>
                </a:moveTo>
                <a:lnTo>
                  <a:pt x="480695" y="0"/>
                </a:lnTo>
                <a:lnTo>
                  <a:pt x="480695" y="480694"/>
                </a:lnTo>
                <a:lnTo>
                  <a:pt x="0" y="48069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1473940" y="3773972"/>
            <a:ext cx="5913677" cy="507366"/>
          </a:xfrm>
          <a:prstGeom prst="rect">
            <a:avLst/>
          </a:prstGeom>
        </p:spPr>
        <p:txBody>
          <a:bodyPr anchor="t" rtlCol="false" tIns="0" lIns="0" bIns="0" rIns="0">
            <a:spAutoFit/>
          </a:bodyPr>
          <a:lstStyle/>
          <a:p>
            <a:pPr algn="l">
              <a:lnSpc>
                <a:spcPts val="4059"/>
              </a:lnSpc>
            </a:pPr>
            <a:r>
              <a:rPr lang="en-US" sz="2899">
                <a:solidFill>
                  <a:srgbClr val="000000"/>
                </a:solidFill>
                <a:latin typeface="Arimo"/>
                <a:ea typeface="Arimo"/>
                <a:cs typeface="Arimo"/>
                <a:sym typeface="Arimo"/>
              </a:rPr>
              <a:t>D</a:t>
            </a:r>
            <a:r>
              <a:rPr lang="en-US" sz="2899">
                <a:solidFill>
                  <a:srgbClr val="000000"/>
                </a:solidFill>
                <a:latin typeface="Arimo"/>
                <a:ea typeface="Arimo"/>
                <a:cs typeface="Arimo"/>
                <a:sym typeface="Arimo"/>
              </a:rPr>
              <a:t>ilakukan pada waktu yang wajar.</a:t>
            </a:r>
          </a:p>
        </p:txBody>
      </p:sp>
      <p:sp>
        <p:nvSpPr>
          <p:cNvPr name="AutoShape 21" id="21"/>
          <p:cNvSpPr/>
          <p:nvPr/>
        </p:nvSpPr>
        <p:spPr>
          <a:xfrm>
            <a:off x="741383" y="3045342"/>
            <a:ext cx="7161710" cy="0"/>
          </a:xfrm>
          <a:prstGeom prst="line">
            <a:avLst/>
          </a:prstGeom>
          <a:ln cap="flat" w="38100">
            <a:solidFill>
              <a:srgbClr val="000000"/>
            </a:solidFill>
            <a:prstDash val="solid"/>
            <a:headEnd type="none" len="sm" w="sm"/>
            <a:tailEnd type="none" len="sm" w="sm"/>
          </a:ln>
        </p:spPr>
      </p:sp>
      <p:sp>
        <p:nvSpPr>
          <p:cNvPr name="TextBox 22" id="22"/>
          <p:cNvSpPr txBox="true"/>
          <p:nvPr/>
        </p:nvSpPr>
        <p:spPr>
          <a:xfrm rot="0">
            <a:off x="317730" y="2141501"/>
            <a:ext cx="8009016" cy="737329"/>
          </a:xfrm>
          <a:prstGeom prst="rect">
            <a:avLst/>
          </a:prstGeom>
        </p:spPr>
        <p:txBody>
          <a:bodyPr anchor="t" rtlCol="false" tIns="0" lIns="0" bIns="0" rIns="0">
            <a:spAutoFit/>
          </a:bodyPr>
          <a:lstStyle/>
          <a:p>
            <a:pPr algn="ctr">
              <a:lnSpc>
                <a:spcPts val="6084"/>
              </a:lnSpc>
            </a:pPr>
            <a:r>
              <a:rPr lang="en-US" sz="4346">
                <a:solidFill>
                  <a:srgbClr val="000000"/>
                </a:solidFill>
                <a:latin typeface="League Spartan"/>
                <a:ea typeface="League Spartan"/>
                <a:cs typeface="League Spartan"/>
                <a:sym typeface="League Spartan"/>
              </a:rPr>
              <a:t>Login Normal</a:t>
            </a:r>
          </a:p>
        </p:txBody>
      </p:sp>
      <p:grpSp>
        <p:nvGrpSpPr>
          <p:cNvPr name="Group 23" id="23"/>
          <p:cNvGrpSpPr/>
          <p:nvPr/>
        </p:nvGrpSpPr>
        <p:grpSpPr>
          <a:xfrm rot="0">
            <a:off x="534810" y="4862350"/>
            <a:ext cx="7791936" cy="993115"/>
            <a:chOff x="0" y="0"/>
            <a:chExt cx="1836370" cy="234055"/>
          </a:xfrm>
        </p:grpSpPr>
        <p:sp>
          <p:nvSpPr>
            <p:cNvPr name="Freeform 24" id="24"/>
            <p:cNvSpPr/>
            <p:nvPr/>
          </p:nvSpPr>
          <p:spPr>
            <a:xfrm flipH="false" flipV="false" rot="0">
              <a:off x="0" y="0"/>
              <a:ext cx="1836370" cy="234055"/>
            </a:xfrm>
            <a:custGeom>
              <a:avLst/>
              <a:gdLst/>
              <a:ahLst/>
              <a:cxnLst/>
              <a:rect r="r" b="b" t="t" l="l"/>
              <a:pathLst>
                <a:path h="234055" w="1836370">
                  <a:moveTo>
                    <a:pt x="1836370" y="0"/>
                  </a:moveTo>
                  <a:lnTo>
                    <a:pt x="1836370" y="234055"/>
                  </a:lnTo>
                  <a:lnTo>
                    <a:pt x="0" y="234055"/>
                  </a:lnTo>
                  <a:lnTo>
                    <a:pt x="0" y="0"/>
                  </a:lnTo>
                  <a:close/>
                </a:path>
              </a:pathLst>
            </a:custGeom>
            <a:solidFill>
              <a:srgbClr val="D8E264"/>
            </a:solidFill>
          </p:spPr>
        </p:sp>
        <p:sp>
          <p:nvSpPr>
            <p:cNvPr name="TextBox 25" id="25"/>
            <p:cNvSpPr txBox="true"/>
            <p:nvPr/>
          </p:nvSpPr>
          <p:spPr>
            <a:xfrm>
              <a:off x="0" y="-47625"/>
              <a:ext cx="1836370" cy="28168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534810" y="6212360"/>
            <a:ext cx="7791936" cy="993115"/>
            <a:chOff x="0" y="0"/>
            <a:chExt cx="1836370" cy="234055"/>
          </a:xfrm>
        </p:grpSpPr>
        <p:sp>
          <p:nvSpPr>
            <p:cNvPr name="Freeform 27" id="27"/>
            <p:cNvSpPr/>
            <p:nvPr/>
          </p:nvSpPr>
          <p:spPr>
            <a:xfrm flipH="false" flipV="false" rot="0">
              <a:off x="0" y="0"/>
              <a:ext cx="1836370" cy="234055"/>
            </a:xfrm>
            <a:custGeom>
              <a:avLst/>
              <a:gdLst/>
              <a:ahLst/>
              <a:cxnLst/>
              <a:rect r="r" b="b" t="t" l="l"/>
              <a:pathLst>
                <a:path h="234055" w="1836370">
                  <a:moveTo>
                    <a:pt x="1836370" y="0"/>
                  </a:moveTo>
                  <a:lnTo>
                    <a:pt x="1836370" y="234055"/>
                  </a:lnTo>
                  <a:lnTo>
                    <a:pt x="0" y="234055"/>
                  </a:lnTo>
                  <a:lnTo>
                    <a:pt x="0" y="0"/>
                  </a:lnTo>
                  <a:close/>
                </a:path>
              </a:pathLst>
            </a:custGeom>
            <a:solidFill>
              <a:srgbClr val="D8E264"/>
            </a:solidFill>
          </p:spPr>
        </p:sp>
        <p:sp>
          <p:nvSpPr>
            <p:cNvPr name="TextBox 28" id="28"/>
            <p:cNvSpPr txBox="true"/>
            <p:nvPr/>
          </p:nvSpPr>
          <p:spPr>
            <a:xfrm>
              <a:off x="0" y="-47625"/>
              <a:ext cx="1836370" cy="281680"/>
            </a:xfrm>
            <a:prstGeom prst="rect">
              <a:avLst/>
            </a:prstGeom>
          </p:spPr>
          <p:txBody>
            <a:bodyPr anchor="ctr" rtlCol="false" tIns="50800" lIns="50800" bIns="50800" rIns="50800"/>
            <a:lstStyle/>
            <a:p>
              <a:pPr algn="ctr">
                <a:lnSpc>
                  <a:spcPts val="2659"/>
                </a:lnSpc>
              </a:pPr>
            </a:p>
          </p:txBody>
        </p:sp>
      </p:grpSp>
      <p:grpSp>
        <p:nvGrpSpPr>
          <p:cNvPr name="Group 29" id="29"/>
          <p:cNvGrpSpPr/>
          <p:nvPr/>
        </p:nvGrpSpPr>
        <p:grpSpPr>
          <a:xfrm rot="0">
            <a:off x="534810" y="7562370"/>
            <a:ext cx="7791936" cy="993115"/>
            <a:chOff x="0" y="0"/>
            <a:chExt cx="1836370" cy="234055"/>
          </a:xfrm>
        </p:grpSpPr>
        <p:sp>
          <p:nvSpPr>
            <p:cNvPr name="Freeform 30" id="30"/>
            <p:cNvSpPr/>
            <p:nvPr/>
          </p:nvSpPr>
          <p:spPr>
            <a:xfrm flipH="false" flipV="false" rot="0">
              <a:off x="0" y="0"/>
              <a:ext cx="1836370" cy="234055"/>
            </a:xfrm>
            <a:custGeom>
              <a:avLst/>
              <a:gdLst/>
              <a:ahLst/>
              <a:cxnLst/>
              <a:rect r="r" b="b" t="t" l="l"/>
              <a:pathLst>
                <a:path h="234055" w="1836370">
                  <a:moveTo>
                    <a:pt x="1836370" y="0"/>
                  </a:moveTo>
                  <a:lnTo>
                    <a:pt x="1836370" y="234055"/>
                  </a:lnTo>
                  <a:lnTo>
                    <a:pt x="0" y="234055"/>
                  </a:lnTo>
                  <a:lnTo>
                    <a:pt x="0" y="0"/>
                  </a:lnTo>
                  <a:close/>
                </a:path>
              </a:pathLst>
            </a:custGeom>
            <a:solidFill>
              <a:srgbClr val="D8E264"/>
            </a:solidFill>
          </p:spPr>
        </p:sp>
        <p:sp>
          <p:nvSpPr>
            <p:cNvPr name="TextBox 31" id="31"/>
            <p:cNvSpPr txBox="true"/>
            <p:nvPr/>
          </p:nvSpPr>
          <p:spPr>
            <a:xfrm>
              <a:off x="0" y="-47625"/>
              <a:ext cx="1836370" cy="281680"/>
            </a:xfrm>
            <a:prstGeom prst="rect">
              <a:avLst/>
            </a:prstGeom>
          </p:spPr>
          <p:txBody>
            <a:bodyPr anchor="ctr" rtlCol="false" tIns="50800" lIns="50800" bIns="50800" rIns="50800"/>
            <a:lstStyle/>
            <a:p>
              <a:pPr algn="ctr">
                <a:lnSpc>
                  <a:spcPts val="2659"/>
                </a:lnSpc>
              </a:pPr>
            </a:p>
          </p:txBody>
        </p:sp>
      </p:grpSp>
      <p:sp>
        <p:nvSpPr>
          <p:cNvPr name="Freeform 32" id="32"/>
          <p:cNvSpPr/>
          <p:nvPr/>
        </p:nvSpPr>
        <p:spPr>
          <a:xfrm flipH="false" flipV="false" rot="1031738">
            <a:off x="13185744" y="-2213984"/>
            <a:ext cx="4889020" cy="5794395"/>
          </a:xfrm>
          <a:custGeom>
            <a:avLst/>
            <a:gdLst/>
            <a:ahLst/>
            <a:cxnLst/>
            <a:rect r="r" b="b" t="t" l="l"/>
            <a:pathLst>
              <a:path h="5794395" w="4889020">
                <a:moveTo>
                  <a:pt x="0" y="0"/>
                </a:moveTo>
                <a:lnTo>
                  <a:pt x="4889020" y="0"/>
                </a:lnTo>
                <a:lnTo>
                  <a:pt x="4889020" y="5794394"/>
                </a:lnTo>
                <a:lnTo>
                  <a:pt x="0" y="5794394"/>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grpSp>
        <p:nvGrpSpPr>
          <p:cNvPr name="Group 33" id="33"/>
          <p:cNvGrpSpPr/>
          <p:nvPr/>
        </p:nvGrpSpPr>
        <p:grpSpPr>
          <a:xfrm rot="0">
            <a:off x="9915484" y="3306830"/>
            <a:ext cx="7791936" cy="5363871"/>
            <a:chOff x="0" y="0"/>
            <a:chExt cx="1836370" cy="1264142"/>
          </a:xfrm>
        </p:grpSpPr>
        <p:sp>
          <p:nvSpPr>
            <p:cNvPr name="Freeform 34" id="34"/>
            <p:cNvSpPr/>
            <p:nvPr/>
          </p:nvSpPr>
          <p:spPr>
            <a:xfrm flipH="false" flipV="false" rot="0">
              <a:off x="0" y="0"/>
              <a:ext cx="1836370" cy="1264142"/>
            </a:xfrm>
            <a:custGeom>
              <a:avLst/>
              <a:gdLst/>
              <a:ahLst/>
              <a:cxnLst/>
              <a:rect r="r" b="b" t="t" l="l"/>
              <a:pathLst>
                <a:path h="1264142" w="1836370">
                  <a:moveTo>
                    <a:pt x="1836370" y="0"/>
                  </a:moveTo>
                  <a:lnTo>
                    <a:pt x="1836370" y="1264142"/>
                  </a:lnTo>
                  <a:lnTo>
                    <a:pt x="0" y="1264142"/>
                  </a:lnTo>
                  <a:lnTo>
                    <a:pt x="0" y="0"/>
                  </a:lnTo>
                  <a:close/>
                </a:path>
              </a:pathLst>
            </a:custGeom>
            <a:solidFill>
              <a:srgbClr val="7B5EA8"/>
            </a:solidFill>
          </p:spPr>
        </p:sp>
        <p:sp>
          <p:nvSpPr>
            <p:cNvPr name="TextBox 35" id="35"/>
            <p:cNvSpPr txBox="true"/>
            <p:nvPr/>
          </p:nvSpPr>
          <p:spPr>
            <a:xfrm>
              <a:off x="0" y="-47625"/>
              <a:ext cx="1836370" cy="1311767"/>
            </a:xfrm>
            <a:prstGeom prst="rect">
              <a:avLst/>
            </a:prstGeom>
          </p:spPr>
          <p:txBody>
            <a:bodyPr anchor="ctr" rtlCol="false" tIns="50800" lIns="50800" bIns="50800" rIns="50800"/>
            <a:lstStyle/>
            <a:p>
              <a:pPr algn="ctr">
                <a:lnSpc>
                  <a:spcPts val="2659"/>
                </a:lnSpc>
              </a:pPr>
            </a:p>
          </p:txBody>
        </p:sp>
      </p:grpSp>
      <p:sp>
        <p:nvSpPr>
          <p:cNvPr name="Freeform 36" id="36"/>
          <p:cNvSpPr/>
          <p:nvPr/>
        </p:nvSpPr>
        <p:spPr>
          <a:xfrm flipH="false" flipV="false" rot="0">
            <a:off x="9957552" y="6444339"/>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nvGrpSpPr>
          <p:cNvPr name="Group 37" id="37"/>
          <p:cNvGrpSpPr/>
          <p:nvPr/>
        </p:nvGrpSpPr>
        <p:grpSpPr>
          <a:xfrm rot="0">
            <a:off x="9692308" y="3540204"/>
            <a:ext cx="7791936" cy="993115"/>
            <a:chOff x="0" y="0"/>
            <a:chExt cx="1836370" cy="234055"/>
          </a:xfrm>
        </p:grpSpPr>
        <p:sp>
          <p:nvSpPr>
            <p:cNvPr name="Freeform 38" id="38"/>
            <p:cNvSpPr/>
            <p:nvPr/>
          </p:nvSpPr>
          <p:spPr>
            <a:xfrm flipH="false" flipV="false" rot="0">
              <a:off x="0" y="0"/>
              <a:ext cx="1836370" cy="234055"/>
            </a:xfrm>
            <a:custGeom>
              <a:avLst/>
              <a:gdLst/>
              <a:ahLst/>
              <a:cxnLst/>
              <a:rect r="r" b="b" t="t" l="l"/>
              <a:pathLst>
                <a:path h="234055" w="1836370">
                  <a:moveTo>
                    <a:pt x="1836370" y="0"/>
                  </a:moveTo>
                  <a:lnTo>
                    <a:pt x="1836370" y="234055"/>
                  </a:lnTo>
                  <a:lnTo>
                    <a:pt x="0" y="234055"/>
                  </a:lnTo>
                  <a:lnTo>
                    <a:pt x="0" y="0"/>
                  </a:lnTo>
                  <a:close/>
                </a:path>
              </a:pathLst>
            </a:custGeom>
            <a:solidFill>
              <a:srgbClr val="D8E264"/>
            </a:solidFill>
          </p:spPr>
        </p:sp>
        <p:sp>
          <p:nvSpPr>
            <p:cNvPr name="TextBox 39" id="39"/>
            <p:cNvSpPr txBox="true"/>
            <p:nvPr/>
          </p:nvSpPr>
          <p:spPr>
            <a:xfrm>
              <a:off x="0" y="-47625"/>
              <a:ext cx="1836370" cy="281680"/>
            </a:xfrm>
            <a:prstGeom prst="rect">
              <a:avLst/>
            </a:prstGeom>
          </p:spPr>
          <p:txBody>
            <a:bodyPr anchor="ctr" rtlCol="false" tIns="50800" lIns="50800" bIns="50800" rIns="50800"/>
            <a:lstStyle/>
            <a:p>
              <a:pPr algn="ctr">
                <a:lnSpc>
                  <a:spcPts val="2659"/>
                </a:lnSpc>
              </a:pPr>
            </a:p>
          </p:txBody>
        </p:sp>
      </p:grpSp>
      <p:sp>
        <p:nvSpPr>
          <p:cNvPr name="Freeform 40" id="40"/>
          <p:cNvSpPr/>
          <p:nvPr/>
        </p:nvSpPr>
        <p:spPr>
          <a:xfrm flipH="false" flipV="false" rot="0">
            <a:off x="9957552" y="5119269"/>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1" id="41"/>
          <p:cNvSpPr/>
          <p:nvPr/>
        </p:nvSpPr>
        <p:spPr>
          <a:xfrm flipH="false" flipV="false" rot="0">
            <a:off x="9957552" y="3820645"/>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42" id="42"/>
          <p:cNvSpPr txBox="true"/>
          <p:nvPr/>
        </p:nvSpPr>
        <p:spPr>
          <a:xfrm rot="0">
            <a:off x="10533070" y="3773972"/>
            <a:ext cx="5913677" cy="507366"/>
          </a:xfrm>
          <a:prstGeom prst="rect">
            <a:avLst/>
          </a:prstGeom>
        </p:spPr>
        <p:txBody>
          <a:bodyPr anchor="t" rtlCol="false" tIns="0" lIns="0" bIns="0" rIns="0">
            <a:spAutoFit/>
          </a:bodyPr>
          <a:lstStyle/>
          <a:p>
            <a:pPr algn="l">
              <a:lnSpc>
                <a:spcPts val="4059"/>
              </a:lnSpc>
            </a:pPr>
            <a:r>
              <a:rPr lang="en-US" sz="2899">
                <a:solidFill>
                  <a:srgbClr val="000000"/>
                </a:solidFill>
                <a:latin typeface="Arimo"/>
                <a:ea typeface="Arimo"/>
                <a:cs typeface="Arimo"/>
                <a:sym typeface="Arimo"/>
              </a:rPr>
              <a:t>Log</a:t>
            </a:r>
            <a:r>
              <a:rPr lang="en-US" sz="2899">
                <a:solidFill>
                  <a:srgbClr val="000000"/>
                </a:solidFill>
                <a:latin typeface="Arimo"/>
                <a:ea typeface="Arimo"/>
                <a:cs typeface="Arimo"/>
                <a:sym typeface="Arimo"/>
              </a:rPr>
              <a:t>in pada waktu yang tidak biasa.</a:t>
            </a:r>
          </a:p>
        </p:txBody>
      </p:sp>
      <p:grpSp>
        <p:nvGrpSpPr>
          <p:cNvPr name="Group 43" id="43"/>
          <p:cNvGrpSpPr/>
          <p:nvPr/>
        </p:nvGrpSpPr>
        <p:grpSpPr>
          <a:xfrm rot="0">
            <a:off x="9692308" y="4838119"/>
            <a:ext cx="7791936" cy="993115"/>
            <a:chOff x="0" y="0"/>
            <a:chExt cx="1836370" cy="234055"/>
          </a:xfrm>
        </p:grpSpPr>
        <p:sp>
          <p:nvSpPr>
            <p:cNvPr name="Freeform 44" id="44"/>
            <p:cNvSpPr/>
            <p:nvPr/>
          </p:nvSpPr>
          <p:spPr>
            <a:xfrm flipH="false" flipV="false" rot="0">
              <a:off x="0" y="0"/>
              <a:ext cx="1836370" cy="234055"/>
            </a:xfrm>
            <a:custGeom>
              <a:avLst/>
              <a:gdLst/>
              <a:ahLst/>
              <a:cxnLst/>
              <a:rect r="r" b="b" t="t" l="l"/>
              <a:pathLst>
                <a:path h="234055" w="1836370">
                  <a:moveTo>
                    <a:pt x="1836370" y="0"/>
                  </a:moveTo>
                  <a:lnTo>
                    <a:pt x="1836370" y="234055"/>
                  </a:lnTo>
                  <a:lnTo>
                    <a:pt x="0" y="234055"/>
                  </a:lnTo>
                  <a:lnTo>
                    <a:pt x="0" y="0"/>
                  </a:lnTo>
                  <a:close/>
                </a:path>
              </a:pathLst>
            </a:custGeom>
            <a:solidFill>
              <a:srgbClr val="D8E264"/>
            </a:solidFill>
          </p:spPr>
        </p:sp>
        <p:sp>
          <p:nvSpPr>
            <p:cNvPr name="TextBox 45" id="45"/>
            <p:cNvSpPr txBox="true"/>
            <p:nvPr/>
          </p:nvSpPr>
          <p:spPr>
            <a:xfrm>
              <a:off x="0" y="-47625"/>
              <a:ext cx="1836370" cy="281680"/>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9692308" y="6188129"/>
            <a:ext cx="7791936" cy="993115"/>
            <a:chOff x="0" y="0"/>
            <a:chExt cx="1836370" cy="234055"/>
          </a:xfrm>
        </p:grpSpPr>
        <p:sp>
          <p:nvSpPr>
            <p:cNvPr name="Freeform 47" id="47"/>
            <p:cNvSpPr/>
            <p:nvPr/>
          </p:nvSpPr>
          <p:spPr>
            <a:xfrm flipH="false" flipV="false" rot="0">
              <a:off x="0" y="0"/>
              <a:ext cx="1836370" cy="234055"/>
            </a:xfrm>
            <a:custGeom>
              <a:avLst/>
              <a:gdLst/>
              <a:ahLst/>
              <a:cxnLst/>
              <a:rect r="r" b="b" t="t" l="l"/>
              <a:pathLst>
                <a:path h="234055" w="1836370">
                  <a:moveTo>
                    <a:pt x="1836370" y="0"/>
                  </a:moveTo>
                  <a:lnTo>
                    <a:pt x="1836370" y="234055"/>
                  </a:lnTo>
                  <a:lnTo>
                    <a:pt x="0" y="234055"/>
                  </a:lnTo>
                  <a:lnTo>
                    <a:pt x="0" y="0"/>
                  </a:lnTo>
                  <a:close/>
                </a:path>
              </a:pathLst>
            </a:custGeom>
            <a:solidFill>
              <a:srgbClr val="D8E264"/>
            </a:solidFill>
          </p:spPr>
        </p:sp>
        <p:sp>
          <p:nvSpPr>
            <p:cNvPr name="TextBox 48" id="48"/>
            <p:cNvSpPr txBox="true"/>
            <p:nvPr/>
          </p:nvSpPr>
          <p:spPr>
            <a:xfrm>
              <a:off x="0" y="-47625"/>
              <a:ext cx="1836370" cy="281680"/>
            </a:xfrm>
            <a:prstGeom prst="rect">
              <a:avLst/>
            </a:prstGeom>
          </p:spPr>
          <p:txBody>
            <a:bodyPr anchor="ctr" rtlCol="false" tIns="50800" lIns="50800" bIns="50800" rIns="50800"/>
            <a:lstStyle/>
            <a:p>
              <a:pPr algn="ctr">
                <a:lnSpc>
                  <a:spcPts val="2659"/>
                </a:lnSpc>
              </a:pPr>
            </a:p>
          </p:txBody>
        </p:sp>
      </p:grpSp>
      <p:grpSp>
        <p:nvGrpSpPr>
          <p:cNvPr name="Group 49" id="49"/>
          <p:cNvGrpSpPr/>
          <p:nvPr/>
        </p:nvGrpSpPr>
        <p:grpSpPr>
          <a:xfrm rot="0">
            <a:off x="9692308" y="7538139"/>
            <a:ext cx="7791936" cy="993115"/>
            <a:chOff x="0" y="0"/>
            <a:chExt cx="1836370" cy="234055"/>
          </a:xfrm>
        </p:grpSpPr>
        <p:sp>
          <p:nvSpPr>
            <p:cNvPr name="Freeform 50" id="50"/>
            <p:cNvSpPr/>
            <p:nvPr/>
          </p:nvSpPr>
          <p:spPr>
            <a:xfrm flipH="false" flipV="false" rot="0">
              <a:off x="0" y="0"/>
              <a:ext cx="1836370" cy="234055"/>
            </a:xfrm>
            <a:custGeom>
              <a:avLst/>
              <a:gdLst/>
              <a:ahLst/>
              <a:cxnLst/>
              <a:rect r="r" b="b" t="t" l="l"/>
              <a:pathLst>
                <a:path h="234055" w="1836370">
                  <a:moveTo>
                    <a:pt x="1836370" y="0"/>
                  </a:moveTo>
                  <a:lnTo>
                    <a:pt x="1836370" y="234055"/>
                  </a:lnTo>
                  <a:lnTo>
                    <a:pt x="0" y="234055"/>
                  </a:lnTo>
                  <a:lnTo>
                    <a:pt x="0" y="0"/>
                  </a:lnTo>
                  <a:close/>
                </a:path>
              </a:pathLst>
            </a:custGeom>
            <a:solidFill>
              <a:srgbClr val="D8E264"/>
            </a:solidFill>
          </p:spPr>
        </p:sp>
        <p:sp>
          <p:nvSpPr>
            <p:cNvPr name="TextBox 51" id="51"/>
            <p:cNvSpPr txBox="true"/>
            <p:nvPr/>
          </p:nvSpPr>
          <p:spPr>
            <a:xfrm>
              <a:off x="0" y="-47625"/>
              <a:ext cx="1836370" cy="281680"/>
            </a:xfrm>
            <a:prstGeom prst="rect">
              <a:avLst/>
            </a:prstGeom>
          </p:spPr>
          <p:txBody>
            <a:bodyPr anchor="ctr" rtlCol="false" tIns="50800" lIns="50800" bIns="50800" rIns="50800"/>
            <a:lstStyle/>
            <a:p>
              <a:pPr algn="ctr">
                <a:lnSpc>
                  <a:spcPts val="2659"/>
                </a:lnSpc>
              </a:pPr>
            </a:p>
          </p:txBody>
        </p:sp>
      </p:grpSp>
      <p:sp>
        <p:nvSpPr>
          <p:cNvPr name="Freeform 52" id="52"/>
          <p:cNvSpPr/>
          <p:nvPr/>
        </p:nvSpPr>
        <p:spPr>
          <a:xfrm flipH="false" flipV="false" rot="0">
            <a:off x="779929" y="5118560"/>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53" id="53"/>
          <p:cNvSpPr/>
          <p:nvPr/>
        </p:nvSpPr>
        <p:spPr>
          <a:xfrm flipH="false" flipV="false" rot="0">
            <a:off x="779929" y="6436477"/>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54" id="54"/>
          <p:cNvSpPr/>
          <p:nvPr/>
        </p:nvSpPr>
        <p:spPr>
          <a:xfrm flipH="false" flipV="false" rot="0">
            <a:off x="779929" y="7754394"/>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55" id="55"/>
          <p:cNvSpPr/>
          <p:nvPr/>
        </p:nvSpPr>
        <p:spPr>
          <a:xfrm flipH="false" flipV="false" rot="0">
            <a:off x="9915484" y="5118560"/>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56" id="56"/>
          <p:cNvSpPr/>
          <p:nvPr/>
        </p:nvSpPr>
        <p:spPr>
          <a:xfrm flipH="false" flipV="false" rot="0">
            <a:off x="9873416" y="6416475"/>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57" id="57"/>
          <p:cNvSpPr/>
          <p:nvPr/>
        </p:nvSpPr>
        <p:spPr>
          <a:xfrm flipH="false" flipV="false" rot="0">
            <a:off x="9873416" y="7818580"/>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58" id="58"/>
          <p:cNvSpPr txBox="true"/>
          <p:nvPr/>
        </p:nvSpPr>
        <p:spPr>
          <a:xfrm rot="0">
            <a:off x="1473940" y="5047656"/>
            <a:ext cx="5913677" cy="507366"/>
          </a:xfrm>
          <a:prstGeom prst="rect">
            <a:avLst/>
          </a:prstGeom>
        </p:spPr>
        <p:txBody>
          <a:bodyPr anchor="t" rtlCol="false" tIns="0" lIns="0" bIns="0" rIns="0">
            <a:spAutoFit/>
          </a:bodyPr>
          <a:lstStyle/>
          <a:p>
            <a:pPr algn="l">
              <a:lnSpc>
                <a:spcPts val="4059"/>
              </a:lnSpc>
            </a:pPr>
            <a:r>
              <a:rPr lang="en-US" sz="2899">
                <a:solidFill>
                  <a:srgbClr val="000000"/>
                </a:solidFill>
                <a:latin typeface="Arimo"/>
                <a:ea typeface="Arimo"/>
                <a:cs typeface="Arimo"/>
                <a:sym typeface="Arimo"/>
              </a:rPr>
              <a:t>Ber</a:t>
            </a:r>
            <a:r>
              <a:rPr lang="en-US" sz="2899">
                <a:solidFill>
                  <a:srgbClr val="000000"/>
                </a:solidFill>
                <a:latin typeface="Arimo"/>
                <a:ea typeface="Arimo"/>
                <a:cs typeface="Arimo"/>
                <a:sym typeface="Arimo"/>
              </a:rPr>
              <a:t>asal dari IP yang dikenal.</a:t>
            </a:r>
          </a:p>
        </p:txBody>
      </p:sp>
      <p:sp>
        <p:nvSpPr>
          <p:cNvPr name="TextBox 59" id="59"/>
          <p:cNvSpPr txBox="true"/>
          <p:nvPr/>
        </p:nvSpPr>
        <p:spPr>
          <a:xfrm rot="0">
            <a:off x="1473940" y="6198365"/>
            <a:ext cx="6852806" cy="1021716"/>
          </a:xfrm>
          <a:prstGeom prst="rect">
            <a:avLst/>
          </a:prstGeom>
        </p:spPr>
        <p:txBody>
          <a:bodyPr anchor="t" rtlCol="false" tIns="0" lIns="0" bIns="0" rIns="0">
            <a:spAutoFit/>
          </a:bodyPr>
          <a:lstStyle/>
          <a:p>
            <a:pPr algn="l">
              <a:lnSpc>
                <a:spcPts val="4059"/>
              </a:lnSpc>
            </a:pPr>
            <a:r>
              <a:rPr lang="en-US" sz="2899">
                <a:solidFill>
                  <a:srgbClr val="000000"/>
                </a:solidFill>
                <a:latin typeface="Arimo"/>
                <a:ea typeface="Arimo"/>
                <a:cs typeface="Arimo"/>
                <a:sym typeface="Arimo"/>
              </a:rPr>
              <a:t>Menggun</a:t>
            </a:r>
            <a:r>
              <a:rPr lang="en-US" sz="2899">
                <a:solidFill>
                  <a:srgbClr val="000000"/>
                </a:solidFill>
                <a:latin typeface="Arimo"/>
                <a:ea typeface="Arimo"/>
                <a:cs typeface="Arimo"/>
                <a:sym typeface="Arimo"/>
              </a:rPr>
              <a:t>akan perangkat yang biasa digunakan.</a:t>
            </a:r>
          </a:p>
        </p:txBody>
      </p:sp>
      <p:sp>
        <p:nvSpPr>
          <p:cNvPr name="TextBox 60" id="60"/>
          <p:cNvSpPr txBox="true"/>
          <p:nvPr/>
        </p:nvSpPr>
        <p:spPr>
          <a:xfrm rot="0">
            <a:off x="1473940" y="7747676"/>
            <a:ext cx="5913677" cy="507366"/>
          </a:xfrm>
          <a:prstGeom prst="rect">
            <a:avLst/>
          </a:prstGeom>
        </p:spPr>
        <p:txBody>
          <a:bodyPr anchor="t" rtlCol="false" tIns="0" lIns="0" bIns="0" rIns="0">
            <a:spAutoFit/>
          </a:bodyPr>
          <a:lstStyle/>
          <a:p>
            <a:pPr algn="l">
              <a:lnSpc>
                <a:spcPts val="4059"/>
              </a:lnSpc>
            </a:pPr>
            <a:r>
              <a:rPr lang="en-US" sz="2899">
                <a:solidFill>
                  <a:srgbClr val="000000"/>
                </a:solidFill>
                <a:latin typeface="Arimo"/>
                <a:ea typeface="Arimo"/>
                <a:cs typeface="Arimo"/>
                <a:sym typeface="Arimo"/>
              </a:rPr>
              <a:t>Percob</a:t>
            </a:r>
            <a:r>
              <a:rPr lang="en-US" sz="2899">
                <a:solidFill>
                  <a:srgbClr val="000000"/>
                </a:solidFill>
                <a:latin typeface="Arimo"/>
                <a:ea typeface="Arimo"/>
                <a:cs typeface="Arimo"/>
                <a:sym typeface="Arimo"/>
              </a:rPr>
              <a:t>aan login relatif sedikit.</a:t>
            </a:r>
          </a:p>
        </p:txBody>
      </p:sp>
      <p:sp>
        <p:nvSpPr>
          <p:cNvPr name="TextBox 61" id="61"/>
          <p:cNvSpPr txBox="true"/>
          <p:nvPr/>
        </p:nvSpPr>
        <p:spPr>
          <a:xfrm rot="0">
            <a:off x="10533070" y="4816529"/>
            <a:ext cx="6951173" cy="1021716"/>
          </a:xfrm>
          <a:prstGeom prst="rect">
            <a:avLst/>
          </a:prstGeom>
        </p:spPr>
        <p:txBody>
          <a:bodyPr anchor="t" rtlCol="false" tIns="0" lIns="0" bIns="0" rIns="0">
            <a:spAutoFit/>
          </a:bodyPr>
          <a:lstStyle/>
          <a:p>
            <a:pPr algn="l">
              <a:lnSpc>
                <a:spcPts val="4059"/>
              </a:lnSpc>
            </a:pPr>
            <a:r>
              <a:rPr lang="en-US" sz="2899">
                <a:solidFill>
                  <a:srgbClr val="000000"/>
                </a:solidFill>
                <a:latin typeface="Arimo"/>
                <a:ea typeface="Arimo"/>
                <a:cs typeface="Arimo"/>
                <a:sym typeface="Arimo"/>
              </a:rPr>
              <a:t>B</a:t>
            </a:r>
            <a:r>
              <a:rPr lang="en-US" sz="2899">
                <a:solidFill>
                  <a:srgbClr val="000000"/>
                </a:solidFill>
                <a:latin typeface="Arimo"/>
                <a:ea typeface="Arimo"/>
                <a:cs typeface="Arimo"/>
                <a:sym typeface="Arimo"/>
              </a:rPr>
              <a:t>anyak percobaan login dalam waktu singkat.</a:t>
            </a:r>
          </a:p>
        </p:txBody>
      </p:sp>
      <p:sp>
        <p:nvSpPr>
          <p:cNvPr name="TextBox 62" id="62"/>
          <p:cNvSpPr txBox="true"/>
          <p:nvPr/>
        </p:nvSpPr>
        <p:spPr>
          <a:xfrm rot="0">
            <a:off x="10533070" y="6132629"/>
            <a:ext cx="6726230" cy="1021716"/>
          </a:xfrm>
          <a:prstGeom prst="rect">
            <a:avLst/>
          </a:prstGeom>
        </p:spPr>
        <p:txBody>
          <a:bodyPr anchor="t" rtlCol="false" tIns="0" lIns="0" bIns="0" rIns="0">
            <a:spAutoFit/>
          </a:bodyPr>
          <a:lstStyle/>
          <a:p>
            <a:pPr algn="l">
              <a:lnSpc>
                <a:spcPts val="4059"/>
              </a:lnSpc>
            </a:pPr>
            <a:r>
              <a:rPr lang="en-US" sz="2899">
                <a:solidFill>
                  <a:srgbClr val="000000"/>
                </a:solidFill>
                <a:latin typeface="Arimo"/>
                <a:ea typeface="Arimo"/>
                <a:cs typeface="Arimo"/>
                <a:sym typeface="Arimo"/>
              </a:rPr>
              <a:t>Ber</a:t>
            </a:r>
            <a:r>
              <a:rPr lang="en-US" sz="2899">
                <a:solidFill>
                  <a:srgbClr val="000000"/>
                </a:solidFill>
                <a:latin typeface="Arimo"/>
                <a:ea typeface="Arimo"/>
                <a:cs typeface="Arimo"/>
                <a:sym typeface="Arimo"/>
              </a:rPr>
              <a:t>asal dari IP atau lokasi yang tidak dikenal.</a:t>
            </a:r>
          </a:p>
        </p:txBody>
      </p:sp>
      <p:sp>
        <p:nvSpPr>
          <p:cNvPr name="TextBox 63" id="63"/>
          <p:cNvSpPr txBox="true"/>
          <p:nvPr/>
        </p:nvSpPr>
        <p:spPr>
          <a:xfrm rot="0">
            <a:off x="10533070" y="7533769"/>
            <a:ext cx="6726230" cy="1021716"/>
          </a:xfrm>
          <a:prstGeom prst="rect">
            <a:avLst/>
          </a:prstGeom>
        </p:spPr>
        <p:txBody>
          <a:bodyPr anchor="t" rtlCol="false" tIns="0" lIns="0" bIns="0" rIns="0">
            <a:spAutoFit/>
          </a:bodyPr>
          <a:lstStyle/>
          <a:p>
            <a:pPr algn="l">
              <a:lnSpc>
                <a:spcPts val="4059"/>
              </a:lnSpc>
            </a:pPr>
            <a:r>
              <a:rPr lang="en-US" sz="2899">
                <a:solidFill>
                  <a:srgbClr val="000000"/>
                </a:solidFill>
                <a:latin typeface="Arimo"/>
                <a:ea typeface="Arimo"/>
                <a:cs typeface="Arimo"/>
                <a:sym typeface="Arimo"/>
              </a:rPr>
              <a:t>Mengg</a:t>
            </a:r>
            <a:r>
              <a:rPr lang="en-US" sz="2899">
                <a:solidFill>
                  <a:srgbClr val="000000"/>
                </a:solidFill>
                <a:latin typeface="Arimo"/>
                <a:ea typeface="Arimo"/>
                <a:cs typeface="Arimo"/>
                <a:sym typeface="Arimo"/>
              </a:rPr>
              <a:t>unakan perangkat baru atau tidak dikenal. </a:t>
            </a:r>
          </a:p>
        </p:txBody>
      </p:sp>
      <p:sp>
        <p:nvSpPr>
          <p:cNvPr name="AutoShape 64" id="64"/>
          <p:cNvSpPr/>
          <p:nvPr/>
        </p:nvSpPr>
        <p:spPr>
          <a:xfrm>
            <a:off x="10173433" y="3077928"/>
            <a:ext cx="7161710" cy="0"/>
          </a:xfrm>
          <a:prstGeom prst="line">
            <a:avLst/>
          </a:prstGeom>
          <a:ln cap="flat" w="38100">
            <a:solidFill>
              <a:srgbClr val="000000"/>
            </a:solidFill>
            <a:prstDash val="solid"/>
            <a:headEnd type="none" len="sm" w="sm"/>
            <a:tailEnd type="none" len="sm" w="sm"/>
          </a:ln>
        </p:spPr>
      </p:sp>
      <p:sp>
        <p:nvSpPr>
          <p:cNvPr name="TextBox 65" id="65"/>
          <p:cNvSpPr txBox="true"/>
          <p:nvPr/>
        </p:nvSpPr>
        <p:spPr>
          <a:xfrm rot="0">
            <a:off x="9749780" y="2174087"/>
            <a:ext cx="8009016" cy="737329"/>
          </a:xfrm>
          <a:prstGeom prst="rect">
            <a:avLst/>
          </a:prstGeom>
        </p:spPr>
        <p:txBody>
          <a:bodyPr anchor="t" rtlCol="false" tIns="0" lIns="0" bIns="0" rIns="0">
            <a:spAutoFit/>
          </a:bodyPr>
          <a:lstStyle/>
          <a:p>
            <a:pPr algn="ctr">
              <a:lnSpc>
                <a:spcPts val="6084"/>
              </a:lnSpc>
            </a:pPr>
            <a:r>
              <a:rPr lang="en-US" sz="4346">
                <a:solidFill>
                  <a:srgbClr val="000000"/>
                </a:solidFill>
                <a:latin typeface="League Spartan"/>
                <a:ea typeface="League Spartan"/>
                <a:cs typeface="League Spartan"/>
                <a:sym typeface="League Spartan"/>
              </a:rPr>
              <a:t>Login Mencurigakan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268752">
            <a:off x="9543927" y="5281874"/>
            <a:ext cx="5608645" cy="6038918"/>
          </a:xfrm>
          <a:custGeom>
            <a:avLst/>
            <a:gdLst/>
            <a:ahLst/>
            <a:cxnLst/>
            <a:rect r="r" b="b" t="t" l="l"/>
            <a:pathLst>
              <a:path h="6038918" w="5608645">
                <a:moveTo>
                  <a:pt x="0" y="0"/>
                </a:moveTo>
                <a:lnTo>
                  <a:pt x="5608646" y="0"/>
                </a:lnTo>
                <a:lnTo>
                  <a:pt x="5608646" y="6038918"/>
                </a:lnTo>
                <a:lnTo>
                  <a:pt x="0" y="6038918"/>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81179">
            <a:off x="-708515" y="-3514862"/>
            <a:ext cx="5608645" cy="6038918"/>
          </a:xfrm>
          <a:custGeom>
            <a:avLst/>
            <a:gdLst/>
            <a:ahLst/>
            <a:cxnLst/>
            <a:rect r="r" b="b" t="t" l="l"/>
            <a:pathLst>
              <a:path h="6038918" w="5608645">
                <a:moveTo>
                  <a:pt x="0" y="0"/>
                </a:moveTo>
                <a:lnTo>
                  <a:pt x="5608646" y="0"/>
                </a:lnTo>
                <a:lnTo>
                  <a:pt x="5608646" y="6038919"/>
                </a:lnTo>
                <a:lnTo>
                  <a:pt x="0" y="6038919"/>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028700" y="2312474"/>
            <a:ext cx="6422080" cy="1999148"/>
            <a:chOff x="0" y="0"/>
            <a:chExt cx="1513528" cy="471154"/>
          </a:xfrm>
        </p:grpSpPr>
        <p:sp>
          <p:nvSpPr>
            <p:cNvPr name="Freeform 6" id="6"/>
            <p:cNvSpPr/>
            <p:nvPr/>
          </p:nvSpPr>
          <p:spPr>
            <a:xfrm flipH="false" flipV="false" rot="0">
              <a:off x="0" y="0"/>
              <a:ext cx="1513528" cy="471154"/>
            </a:xfrm>
            <a:custGeom>
              <a:avLst/>
              <a:gdLst/>
              <a:ahLst/>
              <a:cxnLst/>
              <a:rect r="r" b="b" t="t" l="l"/>
              <a:pathLst>
                <a:path h="471154" w="1513528">
                  <a:moveTo>
                    <a:pt x="1513528" y="0"/>
                  </a:moveTo>
                  <a:lnTo>
                    <a:pt x="1513528" y="471154"/>
                  </a:lnTo>
                  <a:lnTo>
                    <a:pt x="0" y="471154"/>
                  </a:lnTo>
                  <a:lnTo>
                    <a:pt x="0" y="0"/>
                  </a:lnTo>
                  <a:close/>
                </a:path>
              </a:pathLst>
            </a:custGeom>
            <a:solidFill>
              <a:srgbClr val="7B5EA8"/>
            </a:solidFill>
          </p:spPr>
        </p:sp>
        <p:sp>
          <p:nvSpPr>
            <p:cNvPr name="TextBox 7" id="7"/>
            <p:cNvSpPr txBox="true"/>
            <p:nvPr/>
          </p:nvSpPr>
          <p:spPr>
            <a:xfrm>
              <a:off x="0" y="-47625"/>
              <a:ext cx="1513528" cy="518779"/>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837220" y="2312474"/>
            <a:ext cx="6422080" cy="1999148"/>
            <a:chOff x="0" y="0"/>
            <a:chExt cx="2234976" cy="695737"/>
          </a:xfrm>
        </p:grpSpPr>
        <p:sp>
          <p:nvSpPr>
            <p:cNvPr name="Freeform 9" id="9"/>
            <p:cNvSpPr/>
            <p:nvPr/>
          </p:nvSpPr>
          <p:spPr>
            <a:xfrm flipH="false" flipV="false" rot="0">
              <a:off x="0" y="0"/>
              <a:ext cx="2234976" cy="695737"/>
            </a:xfrm>
            <a:custGeom>
              <a:avLst/>
              <a:gdLst/>
              <a:ahLst/>
              <a:cxnLst/>
              <a:rect r="r" b="b" t="t" l="l"/>
              <a:pathLst>
                <a:path h="695737" w="2234976">
                  <a:moveTo>
                    <a:pt x="2234976" y="0"/>
                  </a:moveTo>
                  <a:lnTo>
                    <a:pt x="2234976" y="695737"/>
                  </a:lnTo>
                  <a:lnTo>
                    <a:pt x="0" y="695737"/>
                  </a:lnTo>
                  <a:lnTo>
                    <a:pt x="0" y="0"/>
                  </a:lnTo>
                  <a:close/>
                </a:path>
              </a:pathLst>
            </a:custGeom>
            <a:solidFill>
              <a:srgbClr val="D8E264"/>
            </a:solidFill>
          </p:spPr>
        </p:sp>
        <p:sp>
          <p:nvSpPr>
            <p:cNvPr name="TextBox 10" id="10"/>
            <p:cNvSpPr txBox="true"/>
            <p:nvPr/>
          </p:nvSpPr>
          <p:spPr>
            <a:xfrm>
              <a:off x="0" y="-47625"/>
              <a:ext cx="2234976" cy="743362"/>
            </a:xfrm>
            <a:prstGeom prst="rect">
              <a:avLst/>
            </a:prstGeom>
          </p:spPr>
          <p:txBody>
            <a:bodyPr anchor="ctr" rtlCol="false" tIns="50800" lIns="50800" bIns="50800" rIns="50800"/>
            <a:lstStyle/>
            <a:p>
              <a:pPr algn="ctr">
                <a:lnSpc>
                  <a:spcPts val="2659"/>
                </a:lnSpc>
              </a:pPr>
            </a:p>
          </p:txBody>
        </p:sp>
      </p:grpSp>
      <p:sp>
        <p:nvSpPr>
          <p:cNvPr name="AutoShape 11" id="11"/>
          <p:cNvSpPr/>
          <p:nvPr/>
        </p:nvSpPr>
        <p:spPr>
          <a:xfrm>
            <a:off x="4461774" y="1804812"/>
            <a:ext cx="8749784" cy="0"/>
          </a:xfrm>
          <a:prstGeom prst="line">
            <a:avLst/>
          </a:prstGeom>
          <a:ln cap="flat" w="38100">
            <a:solidFill>
              <a:srgbClr val="000000"/>
            </a:solidFill>
            <a:prstDash val="solid"/>
            <a:headEnd type="none" len="sm" w="sm"/>
            <a:tailEnd type="none" len="sm" w="sm"/>
          </a:ln>
        </p:spPr>
      </p:sp>
      <p:sp>
        <p:nvSpPr>
          <p:cNvPr name="Freeform 12" id="12"/>
          <p:cNvSpPr/>
          <p:nvPr/>
        </p:nvSpPr>
        <p:spPr>
          <a:xfrm flipH="false" flipV="false" rot="-1848102">
            <a:off x="2119644" y="730265"/>
            <a:ext cx="1434171" cy="1132995"/>
          </a:xfrm>
          <a:custGeom>
            <a:avLst/>
            <a:gdLst/>
            <a:ahLst/>
            <a:cxnLst/>
            <a:rect r="r" b="b" t="t" l="l"/>
            <a:pathLst>
              <a:path h="1132995" w="1434171">
                <a:moveTo>
                  <a:pt x="0" y="0"/>
                </a:moveTo>
                <a:lnTo>
                  <a:pt x="1434171" y="0"/>
                </a:lnTo>
                <a:lnTo>
                  <a:pt x="1434171" y="1132995"/>
                </a:lnTo>
                <a:lnTo>
                  <a:pt x="0" y="11329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3351841" y="9708765"/>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4972289" y="-1389251"/>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5" id="15"/>
          <p:cNvGrpSpPr/>
          <p:nvPr/>
        </p:nvGrpSpPr>
        <p:grpSpPr>
          <a:xfrm rot="0">
            <a:off x="1028700" y="4940272"/>
            <a:ext cx="6422080" cy="1999148"/>
            <a:chOff x="0" y="0"/>
            <a:chExt cx="2234976" cy="695737"/>
          </a:xfrm>
        </p:grpSpPr>
        <p:sp>
          <p:nvSpPr>
            <p:cNvPr name="Freeform 16" id="16"/>
            <p:cNvSpPr/>
            <p:nvPr/>
          </p:nvSpPr>
          <p:spPr>
            <a:xfrm flipH="false" flipV="false" rot="0">
              <a:off x="0" y="0"/>
              <a:ext cx="2234976" cy="695737"/>
            </a:xfrm>
            <a:custGeom>
              <a:avLst/>
              <a:gdLst/>
              <a:ahLst/>
              <a:cxnLst/>
              <a:rect r="r" b="b" t="t" l="l"/>
              <a:pathLst>
                <a:path h="695737" w="2234976">
                  <a:moveTo>
                    <a:pt x="2234976" y="0"/>
                  </a:moveTo>
                  <a:lnTo>
                    <a:pt x="2234976" y="695737"/>
                  </a:lnTo>
                  <a:lnTo>
                    <a:pt x="0" y="695737"/>
                  </a:lnTo>
                  <a:lnTo>
                    <a:pt x="0" y="0"/>
                  </a:lnTo>
                  <a:close/>
                </a:path>
              </a:pathLst>
            </a:custGeom>
            <a:solidFill>
              <a:srgbClr val="D8E264"/>
            </a:solidFill>
          </p:spPr>
        </p:sp>
        <p:sp>
          <p:nvSpPr>
            <p:cNvPr name="TextBox 17" id="17"/>
            <p:cNvSpPr txBox="true"/>
            <p:nvPr/>
          </p:nvSpPr>
          <p:spPr>
            <a:xfrm>
              <a:off x="0" y="-47625"/>
              <a:ext cx="2234976" cy="743362"/>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10837220" y="4940272"/>
            <a:ext cx="6422080" cy="1999148"/>
            <a:chOff x="0" y="0"/>
            <a:chExt cx="1513528" cy="471154"/>
          </a:xfrm>
        </p:grpSpPr>
        <p:sp>
          <p:nvSpPr>
            <p:cNvPr name="Freeform 19" id="19"/>
            <p:cNvSpPr/>
            <p:nvPr/>
          </p:nvSpPr>
          <p:spPr>
            <a:xfrm flipH="false" flipV="false" rot="0">
              <a:off x="0" y="0"/>
              <a:ext cx="1513528" cy="471154"/>
            </a:xfrm>
            <a:custGeom>
              <a:avLst/>
              <a:gdLst/>
              <a:ahLst/>
              <a:cxnLst/>
              <a:rect r="r" b="b" t="t" l="l"/>
              <a:pathLst>
                <a:path h="471154" w="1513528">
                  <a:moveTo>
                    <a:pt x="1513528" y="0"/>
                  </a:moveTo>
                  <a:lnTo>
                    <a:pt x="1513528" y="471154"/>
                  </a:lnTo>
                  <a:lnTo>
                    <a:pt x="0" y="471154"/>
                  </a:lnTo>
                  <a:lnTo>
                    <a:pt x="0" y="0"/>
                  </a:lnTo>
                  <a:close/>
                </a:path>
              </a:pathLst>
            </a:custGeom>
            <a:solidFill>
              <a:srgbClr val="7B5EA8"/>
            </a:solidFill>
          </p:spPr>
        </p:sp>
        <p:sp>
          <p:nvSpPr>
            <p:cNvPr name="TextBox 20" id="20"/>
            <p:cNvSpPr txBox="true"/>
            <p:nvPr/>
          </p:nvSpPr>
          <p:spPr>
            <a:xfrm>
              <a:off x="0" y="-47625"/>
              <a:ext cx="1513528" cy="518779"/>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6039841" y="7448332"/>
            <a:ext cx="6422080" cy="1999148"/>
            <a:chOff x="0" y="0"/>
            <a:chExt cx="2234976" cy="695737"/>
          </a:xfrm>
        </p:grpSpPr>
        <p:sp>
          <p:nvSpPr>
            <p:cNvPr name="Freeform 22" id="22"/>
            <p:cNvSpPr/>
            <p:nvPr/>
          </p:nvSpPr>
          <p:spPr>
            <a:xfrm flipH="false" flipV="false" rot="0">
              <a:off x="0" y="0"/>
              <a:ext cx="2234976" cy="695737"/>
            </a:xfrm>
            <a:custGeom>
              <a:avLst/>
              <a:gdLst/>
              <a:ahLst/>
              <a:cxnLst/>
              <a:rect r="r" b="b" t="t" l="l"/>
              <a:pathLst>
                <a:path h="695737" w="2234976">
                  <a:moveTo>
                    <a:pt x="2234976" y="0"/>
                  </a:moveTo>
                  <a:lnTo>
                    <a:pt x="2234976" y="695737"/>
                  </a:lnTo>
                  <a:lnTo>
                    <a:pt x="0" y="695737"/>
                  </a:lnTo>
                  <a:lnTo>
                    <a:pt x="0" y="0"/>
                  </a:lnTo>
                  <a:close/>
                </a:path>
              </a:pathLst>
            </a:custGeom>
            <a:solidFill>
              <a:srgbClr val="D8E264"/>
            </a:solidFill>
          </p:spPr>
        </p:sp>
        <p:sp>
          <p:nvSpPr>
            <p:cNvPr name="TextBox 23" id="23"/>
            <p:cNvSpPr txBox="true"/>
            <p:nvPr/>
          </p:nvSpPr>
          <p:spPr>
            <a:xfrm>
              <a:off x="0" y="-47625"/>
              <a:ext cx="2234976" cy="743362"/>
            </a:xfrm>
            <a:prstGeom prst="rect">
              <a:avLst/>
            </a:prstGeom>
          </p:spPr>
          <p:txBody>
            <a:bodyPr anchor="ctr" rtlCol="false" tIns="50800" lIns="50800" bIns="50800" rIns="50800"/>
            <a:lstStyle/>
            <a:p>
              <a:pPr algn="ctr">
                <a:lnSpc>
                  <a:spcPts val="2659"/>
                </a:lnSpc>
              </a:pPr>
            </a:p>
          </p:txBody>
        </p:sp>
      </p:grpSp>
      <p:sp>
        <p:nvSpPr>
          <p:cNvPr name="Freeform 24" id="24"/>
          <p:cNvSpPr/>
          <p:nvPr/>
        </p:nvSpPr>
        <p:spPr>
          <a:xfrm flipH="false" flipV="false" rot="0">
            <a:off x="189293" y="2644543"/>
            <a:ext cx="1353992" cy="1366414"/>
          </a:xfrm>
          <a:custGeom>
            <a:avLst/>
            <a:gdLst/>
            <a:ahLst/>
            <a:cxnLst/>
            <a:rect r="r" b="b" t="t" l="l"/>
            <a:pathLst>
              <a:path h="1366414" w="1353992">
                <a:moveTo>
                  <a:pt x="0" y="0"/>
                </a:moveTo>
                <a:lnTo>
                  <a:pt x="1353993" y="0"/>
                </a:lnTo>
                <a:lnTo>
                  <a:pt x="1353993" y="1366414"/>
                </a:lnTo>
                <a:lnTo>
                  <a:pt x="0" y="13664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0">
            <a:off x="9650896" y="2707634"/>
            <a:ext cx="1349023" cy="1366414"/>
          </a:xfrm>
          <a:custGeom>
            <a:avLst/>
            <a:gdLst/>
            <a:ahLst/>
            <a:cxnLst/>
            <a:rect r="r" b="b" t="t" l="l"/>
            <a:pathLst>
              <a:path h="1366414" w="1349023">
                <a:moveTo>
                  <a:pt x="0" y="0"/>
                </a:moveTo>
                <a:lnTo>
                  <a:pt x="1349023" y="0"/>
                </a:lnTo>
                <a:lnTo>
                  <a:pt x="1349023" y="1366414"/>
                </a:lnTo>
                <a:lnTo>
                  <a:pt x="0" y="136641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6" id="26"/>
          <p:cNvSpPr/>
          <p:nvPr/>
        </p:nvSpPr>
        <p:spPr>
          <a:xfrm flipH="false" flipV="false" rot="0">
            <a:off x="225292" y="5228316"/>
            <a:ext cx="1281996" cy="1303323"/>
          </a:xfrm>
          <a:custGeom>
            <a:avLst/>
            <a:gdLst/>
            <a:ahLst/>
            <a:cxnLst/>
            <a:rect r="r" b="b" t="t" l="l"/>
            <a:pathLst>
              <a:path h="1303323" w="1281996">
                <a:moveTo>
                  <a:pt x="0" y="0"/>
                </a:moveTo>
                <a:lnTo>
                  <a:pt x="1281996" y="0"/>
                </a:lnTo>
                <a:lnTo>
                  <a:pt x="1281996" y="1303323"/>
                </a:lnTo>
                <a:lnTo>
                  <a:pt x="0" y="130332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7" id="27"/>
          <p:cNvSpPr/>
          <p:nvPr/>
        </p:nvSpPr>
        <p:spPr>
          <a:xfrm flipH="false" flipV="false" rot="0">
            <a:off x="9683193" y="5256639"/>
            <a:ext cx="1316726" cy="1366414"/>
          </a:xfrm>
          <a:custGeom>
            <a:avLst/>
            <a:gdLst/>
            <a:ahLst/>
            <a:cxnLst/>
            <a:rect r="r" b="b" t="t" l="l"/>
            <a:pathLst>
              <a:path h="1366414" w="1316726">
                <a:moveTo>
                  <a:pt x="0" y="0"/>
                </a:moveTo>
                <a:lnTo>
                  <a:pt x="1316726" y="0"/>
                </a:lnTo>
                <a:lnTo>
                  <a:pt x="1316726" y="1366415"/>
                </a:lnTo>
                <a:lnTo>
                  <a:pt x="0" y="136641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8" id="28"/>
          <p:cNvSpPr/>
          <p:nvPr/>
        </p:nvSpPr>
        <p:spPr>
          <a:xfrm flipH="false" flipV="false" rot="0">
            <a:off x="4955070" y="7764699"/>
            <a:ext cx="1304304" cy="1366414"/>
          </a:xfrm>
          <a:custGeom>
            <a:avLst/>
            <a:gdLst/>
            <a:ahLst/>
            <a:cxnLst/>
            <a:rect r="r" b="b" t="t" l="l"/>
            <a:pathLst>
              <a:path h="1366414" w="1304304">
                <a:moveTo>
                  <a:pt x="0" y="0"/>
                </a:moveTo>
                <a:lnTo>
                  <a:pt x="1304305" y="0"/>
                </a:lnTo>
                <a:lnTo>
                  <a:pt x="1304305" y="1366414"/>
                </a:lnTo>
                <a:lnTo>
                  <a:pt x="0" y="136641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29" id="29"/>
          <p:cNvSpPr txBox="true"/>
          <p:nvPr/>
        </p:nvSpPr>
        <p:spPr>
          <a:xfrm rot="0">
            <a:off x="4518839" y="645838"/>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metode penelitian</a:t>
            </a:r>
          </a:p>
        </p:txBody>
      </p:sp>
      <p:sp>
        <p:nvSpPr>
          <p:cNvPr name="TextBox 30" id="30"/>
          <p:cNvSpPr txBox="true"/>
          <p:nvPr/>
        </p:nvSpPr>
        <p:spPr>
          <a:xfrm rot="0">
            <a:off x="10999919" y="2473849"/>
            <a:ext cx="6096682" cy="1600200"/>
          </a:xfrm>
          <a:prstGeom prst="rect">
            <a:avLst/>
          </a:prstGeom>
        </p:spPr>
        <p:txBody>
          <a:bodyPr anchor="t" rtlCol="false" tIns="0" lIns="0" bIns="0" rIns="0">
            <a:spAutoFit/>
          </a:bodyPr>
          <a:lstStyle/>
          <a:p>
            <a:pPr algn="ctr">
              <a:lnSpc>
                <a:spcPts val="4200"/>
              </a:lnSpc>
            </a:pPr>
            <a:r>
              <a:rPr lang="en-US" sz="3000">
                <a:solidFill>
                  <a:srgbClr val="000000"/>
                </a:solidFill>
                <a:latin typeface="Arimo"/>
                <a:ea typeface="Arimo"/>
                <a:cs typeface="Arimo"/>
                <a:sym typeface="Arimo"/>
              </a:rPr>
              <a:t>Melakukan preprocessing data (penanganan missing value, fe</a:t>
            </a:r>
            <a:r>
              <a:rPr lang="en-US" sz="3000">
                <a:solidFill>
                  <a:srgbClr val="000000"/>
                </a:solidFill>
                <a:latin typeface="Arimo"/>
                <a:ea typeface="Arimo"/>
                <a:cs typeface="Arimo"/>
                <a:sym typeface="Arimo"/>
              </a:rPr>
              <a:t>ature engineering, dan encoding).</a:t>
            </a:r>
          </a:p>
        </p:txBody>
      </p:sp>
      <p:sp>
        <p:nvSpPr>
          <p:cNvPr name="TextBox 31" id="31"/>
          <p:cNvSpPr txBox="true"/>
          <p:nvPr/>
        </p:nvSpPr>
        <p:spPr>
          <a:xfrm rot="0">
            <a:off x="1237897" y="2704988"/>
            <a:ext cx="6003685" cy="1128395"/>
          </a:xfrm>
          <a:prstGeom prst="rect">
            <a:avLst/>
          </a:prstGeom>
        </p:spPr>
        <p:txBody>
          <a:bodyPr anchor="t" rtlCol="false" tIns="0" lIns="0" bIns="0" rIns="0">
            <a:spAutoFit/>
          </a:bodyPr>
          <a:lstStyle/>
          <a:p>
            <a:pPr algn="ctr">
              <a:lnSpc>
                <a:spcPts val="4480"/>
              </a:lnSpc>
            </a:pPr>
            <a:r>
              <a:rPr lang="en-US" sz="3200">
                <a:solidFill>
                  <a:srgbClr val="FFFFFF"/>
                </a:solidFill>
                <a:latin typeface="Arimo"/>
                <a:ea typeface="Arimo"/>
                <a:cs typeface="Arimo"/>
                <a:sym typeface="Arimo"/>
              </a:rPr>
              <a:t>M</a:t>
            </a:r>
            <a:r>
              <a:rPr lang="en-US" sz="3200">
                <a:solidFill>
                  <a:srgbClr val="FFFFFF"/>
                </a:solidFill>
                <a:latin typeface="Arimo"/>
                <a:ea typeface="Arimo"/>
                <a:cs typeface="Arimo"/>
                <a:sym typeface="Arimo"/>
              </a:rPr>
              <a:t>engumpulkan data aktivitas login.</a:t>
            </a:r>
          </a:p>
        </p:txBody>
      </p:sp>
      <p:sp>
        <p:nvSpPr>
          <p:cNvPr name="TextBox 32" id="32"/>
          <p:cNvSpPr txBox="true"/>
          <p:nvPr/>
        </p:nvSpPr>
        <p:spPr>
          <a:xfrm rot="0">
            <a:off x="1370970" y="5358822"/>
            <a:ext cx="5638471" cy="1128395"/>
          </a:xfrm>
          <a:prstGeom prst="rect">
            <a:avLst/>
          </a:prstGeom>
        </p:spPr>
        <p:txBody>
          <a:bodyPr anchor="t" rtlCol="false" tIns="0" lIns="0" bIns="0" rIns="0">
            <a:spAutoFit/>
          </a:bodyPr>
          <a:lstStyle/>
          <a:p>
            <a:pPr algn="ctr">
              <a:lnSpc>
                <a:spcPts val="4479"/>
              </a:lnSpc>
            </a:pPr>
            <a:r>
              <a:rPr lang="en-US" sz="3199">
                <a:solidFill>
                  <a:srgbClr val="000000"/>
                </a:solidFill>
                <a:latin typeface="Arimo"/>
                <a:ea typeface="Arimo"/>
                <a:cs typeface="Arimo"/>
                <a:sym typeface="Arimo"/>
              </a:rPr>
              <a:t>Membangun model klasifikasi meng</a:t>
            </a:r>
            <a:r>
              <a:rPr lang="en-US" sz="3199">
                <a:solidFill>
                  <a:srgbClr val="000000"/>
                </a:solidFill>
                <a:latin typeface="Arimo"/>
                <a:ea typeface="Arimo"/>
                <a:cs typeface="Arimo"/>
                <a:sym typeface="Arimo"/>
              </a:rPr>
              <a:t>gunakan Random Forest.</a:t>
            </a:r>
          </a:p>
        </p:txBody>
      </p:sp>
      <p:sp>
        <p:nvSpPr>
          <p:cNvPr name="TextBox 33" id="33"/>
          <p:cNvSpPr txBox="true"/>
          <p:nvPr/>
        </p:nvSpPr>
        <p:spPr>
          <a:xfrm rot="0">
            <a:off x="11046418" y="5272917"/>
            <a:ext cx="6003685" cy="1128395"/>
          </a:xfrm>
          <a:prstGeom prst="rect">
            <a:avLst/>
          </a:prstGeom>
        </p:spPr>
        <p:txBody>
          <a:bodyPr anchor="t" rtlCol="false" tIns="0" lIns="0" bIns="0" rIns="0">
            <a:spAutoFit/>
          </a:bodyPr>
          <a:lstStyle/>
          <a:p>
            <a:pPr algn="ctr">
              <a:lnSpc>
                <a:spcPts val="4480"/>
              </a:lnSpc>
            </a:pPr>
            <a:r>
              <a:rPr lang="en-US" sz="3200">
                <a:solidFill>
                  <a:srgbClr val="FFFFFF"/>
                </a:solidFill>
                <a:latin typeface="Arimo"/>
                <a:ea typeface="Arimo"/>
                <a:cs typeface="Arimo"/>
                <a:sym typeface="Arimo"/>
              </a:rPr>
              <a:t>M</a:t>
            </a:r>
            <a:r>
              <a:rPr lang="en-US" sz="3200">
                <a:solidFill>
                  <a:srgbClr val="FFFFFF"/>
                </a:solidFill>
                <a:latin typeface="Arimo"/>
                <a:ea typeface="Arimo"/>
                <a:cs typeface="Arimo"/>
                <a:sym typeface="Arimo"/>
              </a:rPr>
              <a:t>enguji model menggunakan data testing.</a:t>
            </a:r>
          </a:p>
        </p:txBody>
      </p:sp>
      <p:sp>
        <p:nvSpPr>
          <p:cNvPr name="TextBox 34" id="34"/>
          <p:cNvSpPr txBox="true"/>
          <p:nvPr/>
        </p:nvSpPr>
        <p:spPr>
          <a:xfrm rot="0">
            <a:off x="6259375" y="7577596"/>
            <a:ext cx="5983012" cy="1690370"/>
          </a:xfrm>
          <a:prstGeom prst="rect">
            <a:avLst/>
          </a:prstGeom>
        </p:spPr>
        <p:txBody>
          <a:bodyPr anchor="t" rtlCol="false" tIns="0" lIns="0" bIns="0" rIns="0">
            <a:spAutoFit/>
          </a:bodyPr>
          <a:lstStyle/>
          <a:p>
            <a:pPr algn="ctr">
              <a:lnSpc>
                <a:spcPts val="4480"/>
              </a:lnSpc>
            </a:pPr>
            <a:r>
              <a:rPr lang="en-US" sz="3200">
                <a:solidFill>
                  <a:srgbClr val="000000"/>
                </a:solidFill>
                <a:latin typeface="Arimo"/>
                <a:ea typeface="Arimo"/>
                <a:cs typeface="Arimo"/>
                <a:sym typeface="Arimo"/>
              </a:rPr>
              <a:t>Mengevaluasi hasil klasifikasi menggun</a:t>
            </a:r>
            <a:r>
              <a:rPr lang="en-US" sz="3200">
                <a:solidFill>
                  <a:srgbClr val="000000"/>
                </a:solidFill>
                <a:latin typeface="Arimo"/>
                <a:ea typeface="Arimo"/>
                <a:cs typeface="Arimo"/>
                <a:sym typeface="Arimo"/>
              </a:rPr>
              <a:t>akan Confusion Matrix dan Classification Report.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8945344">
            <a:off x="-3187174" y="-131718"/>
            <a:ext cx="6708807" cy="3421492"/>
          </a:xfrm>
          <a:custGeom>
            <a:avLst/>
            <a:gdLst/>
            <a:ahLst/>
            <a:cxnLst/>
            <a:rect r="r" b="b" t="t" l="l"/>
            <a:pathLst>
              <a:path h="3421492" w="6708807">
                <a:moveTo>
                  <a:pt x="0" y="0"/>
                </a:moveTo>
                <a:lnTo>
                  <a:pt x="6708807" y="0"/>
                </a:lnTo>
                <a:lnTo>
                  <a:pt x="6708807" y="3421491"/>
                </a:lnTo>
                <a:lnTo>
                  <a:pt x="0" y="3421491"/>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8100000">
            <a:off x="15530440" y="2899556"/>
            <a:ext cx="6708807" cy="3421492"/>
          </a:xfrm>
          <a:custGeom>
            <a:avLst/>
            <a:gdLst/>
            <a:ahLst/>
            <a:cxnLst/>
            <a:rect r="r" b="b" t="t" l="l"/>
            <a:pathLst>
              <a:path h="3421492" w="6708807">
                <a:moveTo>
                  <a:pt x="0" y="0"/>
                </a:moveTo>
                <a:lnTo>
                  <a:pt x="6708807" y="0"/>
                </a:lnTo>
                <a:lnTo>
                  <a:pt x="6708807" y="3421491"/>
                </a:lnTo>
                <a:lnTo>
                  <a:pt x="0" y="3421491"/>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85891">
            <a:off x="5069784" y="7898176"/>
            <a:ext cx="7593675" cy="3872774"/>
          </a:xfrm>
          <a:custGeom>
            <a:avLst/>
            <a:gdLst/>
            <a:ahLst/>
            <a:cxnLst/>
            <a:rect r="r" b="b" t="t" l="l"/>
            <a:pathLst>
              <a:path h="3872774" w="7593675">
                <a:moveTo>
                  <a:pt x="0" y="0"/>
                </a:moveTo>
                <a:lnTo>
                  <a:pt x="7593675" y="0"/>
                </a:lnTo>
                <a:lnTo>
                  <a:pt x="7593675" y="3872774"/>
                </a:lnTo>
                <a:lnTo>
                  <a:pt x="0" y="3872774"/>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234316" y="3480626"/>
            <a:ext cx="9819368" cy="0"/>
          </a:xfrm>
          <a:prstGeom prst="line">
            <a:avLst/>
          </a:prstGeom>
          <a:ln cap="flat" w="38100">
            <a:solidFill>
              <a:srgbClr val="000000"/>
            </a:solidFill>
            <a:prstDash val="solid"/>
            <a:headEnd type="none" len="sm" w="sm"/>
            <a:tailEnd type="none" len="sm" w="sm"/>
          </a:ln>
        </p:spPr>
      </p:sp>
      <p:grpSp>
        <p:nvGrpSpPr>
          <p:cNvPr name="Group 7" id="7"/>
          <p:cNvGrpSpPr/>
          <p:nvPr/>
        </p:nvGrpSpPr>
        <p:grpSpPr>
          <a:xfrm rot="0">
            <a:off x="2229009" y="4033802"/>
            <a:ext cx="6472521" cy="3315765"/>
            <a:chOff x="0" y="0"/>
            <a:chExt cx="1410123" cy="722387"/>
          </a:xfrm>
        </p:grpSpPr>
        <p:sp>
          <p:nvSpPr>
            <p:cNvPr name="Freeform 8" id="8"/>
            <p:cNvSpPr/>
            <p:nvPr/>
          </p:nvSpPr>
          <p:spPr>
            <a:xfrm flipH="false" flipV="false" rot="0">
              <a:off x="0" y="0"/>
              <a:ext cx="1410123" cy="722387"/>
            </a:xfrm>
            <a:custGeom>
              <a:avLst/>
              <a:gdLst/>
              <a:ahLst/>
              <a:cxnLst/>
              <a:rect r="r" b="b" t="t" l="l"/>
              <a:pathLst>
                <a:path h="722387" w="1410123">
                  <a:moveTo>
                    <a:pt x="1410123" y="0"/>
                  </a:moveTo>
                  <a:lnTo>
                    <a:pt x="1410123" y="722387"/>
                  </a:lnTo>
                  <a:lnTo>
                    <a:pt x="0" y="722387"/>
                  </a:lnTo>
                  <a:lnTo>
                    <a:pt x="0" y="0"/>
                  </a:lnTo>
                  <a:close/>
                </a:path>
              </a:pathLst>
            </a:custGeom>
            <a:solidFill>
              <a:srgbClr val="7B5EA8"/>
            </a:solidFill>
          </p:spPr>
        </p:sp>
        <p:sp>
          <p:nvSpPr>
            <p:cNvPr name="TextBox 9" id="9"/>
            <p:cNvSpPr txBox="true"/>
            <p:nvPr/>
          </p:nvSpPr>
          <p:spPr>
            <a:xfrm>
              <a:off x="0" y="-47625"/>
              <a:ext cx="1410123" cy="770012"/>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9840884" y="4577129"/>
            <a:ext cx="6472521" cy="4474749"/>
            <a:chOff x="0" y="0"/>
            <a:chExt cx="1410123" cy="974889"/>
          </a:xfrm>
        </p:grpSpPr>
        <p:sp>
          <p:nvSpPr>
            <p:cNvPr name="Freeform 11" id="11"/>
            <p:cNvSpPr/>
            <p:nvPr/>
          </p:nvSpPr>
          <p:spPr>
            <a:xfrm flipH="false" flipV="false" rot="0">
              <a:off x="0" y="0"/>
              <a:ext cx="1410123" cy="974889"/>
            </a:xfrm>
            <a:custGeom>
              <a:avLst/>
              <a:gdLst/>
              <a:ahLst/>
              <a:cxnLst/>
              <a:rect r="r" b="b" t="t" l="l"/>
              <a:pathLst>
                <a:path h="974889" w="1410123">
                  <a:moveTo>
                    <a:pt x="1410123" y="0"/>
                  </a:moveTo>
                  <a:lnTo>
                    <a:pt x="1410123" y="974889"/>
                  </a:lnTo>
                  <a:lnTo>
                    <a:pt x="0" y="974889"/>
                  </a:lnTo>
                  <a:lnTo>
                    <a:pt x="0" y="0"/>
                  </a:lnTo>
                  <a:close/>
                </a:path>
              </a:pathLst>
            </a:custGeom>
            <a:solidFill>
              <a:srgbClr val="7B5EA8"/>
            </a:solidFill>
          </p:spPr>
        </p:sp>
        <p:sp>
          <p:nvSpPr>
            <p:cNvPr name="TextBox 12" id="12"/>
            <p:cNvSpPr txBox="true"/>
            <p:nvPr/>
          </p:nvSpPr>
          <p:spPr>
            <a:xfrm>
              <a:off x="0" y="-47625"/>
              <a:ext cx="1410123" cy="1022514"/>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2133924" y="3962688"/>
            <a:ext cx="6446682" cy="3184395"/>
            <a:chOff x="0" y="0"/>
            <a:chExt cx="1404494" cy="693767"/>
          </a:xfrm>
        </p:grpSpPr>
        <p:sp>
          <p:nvSpPr>
            <p:cNvPr name="Freeform 14" id="14"/>
            <p:cNvSpPr/>
            <p:nvPr/>
          </p:nvSpPr>
          <p:spPr>
            <a:xfrm flipH="false" flipV="false" rot="0">
              <a:off x="0" y="0"/>
              <a:ext cx="1404494" cy="693767"/>
            </a:xfrm>
            <a:custGeom>
              <a:avLst/>
              <a:gdLst/>
              <a:ahLst/>
              <a:cxnLst/>
              <a:rect r="r" b="b" t="t" l="l"/>
              <a:pathLst>
                <a:path h="693767" w="1404494">
                  <a:moveTo>
                    <a:pt x="1404494" y="0"/>
                  </a:moveTo>
                  <a:lnTo>
                    <a:pt x="1404494" y="693767"/>
                  </a:lnTo>
                  <a:lnTo>
                    <a:pt x="0" y="693767"/>
                  </a:lnTo>
                  <a:lnTo>
                    <a:pt x="0" y="0"/>
                  </a:lnTo>
                  <a:close/>
                </a:path>
              </a:pathLst>
            </a:custGeom>
            <a:solidFill>
              <a:srgbClr val="D8E264"/>
            </a:solidFill>
          </p:spPr>
        </p:sp>
        <p:sp>
          <p:nvSpPr>
            <p:cNvPr name="TextBox 15" id="15"/>
            <p:cNvSpPr txBox="true"/>
            <p:nvPr/>
          </p:nvSpPr>
          <p:spPr>
            <a:xfrm>
              <a:off x="0" y="-47625"/>
              <a:ext cx="1404494" cy="741392"/>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9124709" y="4033802"/>
            <a:ext cx="6889152" cy="5537198"/>
            <a:chOff x="0" y="0"/>
            <a:chExt cx="1404494" cy="1128878"/>
          </a:xfrm>
        </p:grpSpPr>
        <p:sp>
          <p:nvSpPr>
            <p:cNvPr name="Freeform 17" id="17"/>
            <p:cNvSpPr/>
            <p:nvPr/>
          </p:nvSpPr>
          <p:spPr>
            <a:xfrm flipH="false" flipV="false" rot="0">
              <a:off x="0" y="0"/>
              <a:ext cx="1404494" cy="1128878"/>
            </a:xfrm>
            <a:custGeom>
              <a:avLst/>
              <a:gdLst/>
              <a:ahLst/>
              <a:cxnLst/>
              <a:rect r="r" b="b" t="t" l="l"/>
              <a:pathLst>
                <a:path h="1128878" w="1404494">
                  <a:moveTo>
                    <a:pt x="1404494" y="0"/>
                  </a:moveTo>
                  <a:lnTo>
                    <a:pt x="1404494" y="1128878"/>
                  </a:lnTo>
                  <a:lnTo>
                    <a:pt x="0" y="1128878"/>
                  </a:lnTo>
                  <a:lnTo>
                    <a:pt x="0" y="0"/>
                  </a:lnTo>
                  <a:close/>
                </a:path>
              </a:pathLst>
            </a:custGeom>
            <a:solidFill>
              <a:srgbClr val="D8E264"/>
            </a:solidFill>
          </p:spPr>
        </p:sp>
        <p:sp>
          <p:nvSpPr>
            <p:cNvPr name="TextBox 18" id="18"/>
            <p:cNvSpPr txBox="true"/>
            <p:nvPr/>
          </p:nvSpPr>
          <p:spPr>
            <a:xfrm>
              <a:off x="0" y="-47625"/>
              <a:ext cx="1404494" cy="117650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2791684" y="3883539"/>
            <a:ext cx="5131161" cy="973418"/>
            <a:chOff x="0" y="0"/>
            <a:chExt cx="1117891" cy="212073"/>
          </a:xfrm>
        </p:grpSpPr>
        <p:sp>
          <p:nvSpPr>
            <p:cNvPr name="Freeform 20" id="20"/>
            <p:cNvSpPr/>
            <p:nvPr/>
          </p:nvSpPr>
          <p:spPr>
            <a:xfrm flipH="false" flipV="false" rot="0">
              <a:off x="0" y="0"/>
              <a:ext cx="1117891" cy="212073"/>
            </a:xfrm>
            <a:custGeom>
              <a:avLst/>
              <a:gdLst/>
              <a:ahLst/>
              <a:cxnLst/>
              <a:rect r="r" b="b" t="t" l="l"/>
              <a:pathLst>
                <a:path h="212073" w="1117891">
                  <a:moveTo>
                    <a:pt x="1117891" y="0"/>
                  </a:moveTo>
                  <a:lnTo>
                    <a:pt x="1117891" y="212073"/>
                  </a:lnTo>
                  <a:lnTo>
                    <a:pt x="0" y="212073"/>
                  </a:lnTo>
                  <a:lnTo>
                    <a:pt x="0" y="0"/>
                  </a:lnTo>
                  <a:close/>
                </a:path>
              </a:pathLst>
            </a:custGeom>
            <a:solidFill>
              <a:srgbClr val="7B5EA8"/>
            </a:solidFill>
          </p:spPr>
        </p:sp>
        <p:sp>
          <p:nvSpPr>
            <p:cNvPr name="TextBox 21" id="21"/>
            <p:cNvSpPr txBox="true"/>
            <p:nvPr/>
          </p:nvSpPr>
          <p:spPr>
            <a:xfrm>
              <a:off x="0" y="-47625"/>
              <a:ext cx="1117891" cy="259698"/>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0172081" y="3786541"/>
            <a:ext cx="5131161" cy="789428"/>
            <a:chOff x="0" y="0"/>
            <a:chExt cx="1117891" cy="171988"/>
          </a:xfrm>
        </p:grpSpPr>
        <p:sp>
          <p:nvSpPr>
            <p:cNvPr name="Freeform 23" id="23"/>
            <p:cNvSpPr/>
            <p:nvPr/>
          </p:nvSpPr>
          <p:spPr>
            <a:xfrm flipH="false" flipV="false" rot="0">
              <a:off x="0" y="0"/>
              <a:ext cx="1117891" cy="171988"/>
            </a:xfrm>
            <a:custGeom>
              <a:avLst/>
              <a:gdLst/>
              <a:ahLst/>
              <a:cxnLst/>
              <a:rect r="r" b="b" t="t" l="l"/>
              <a:pathLst>
                <a:path h="171988" w="1117891">
                  <a:moveTo>
                    <a:pt x="1117891" y="0"/>
                  </a:moveTo>
                  <a:lnTo>
                    <a:pt x="1117891" y="171988"/>
                  </a:lnTo>
                  <a:lnTo>
                    <a:pt x="0" y="171988"/>
                  </a:lnTo>
                  <a:lnTo>
                    <a:pt x="0" y="0"/>
                  </a:lnTo>
                  <a:close/>
                </a:path>
              </a:pathLst>
            </a:custGeom>
            <a:solidFill>
              <a:srgbClr val="7B5EA8"/>
            </a:solidFill>
          </p:spPr>
        </p:sp>
        <p:sp>
          <p:nvSpPr>
            <p:cNvPr name="TextBox 24" id="24"/>
            <p:cNvSpPr txBox="true"/>
            <p:nvPr/>
          </p:nvSpPr>
          <p:spPr>
            <a:xfrm>
              <a:off x="0" y="-47625"/>
              <a:ext cx="1117891" cy="219613"/>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1169717" y="9708765"/>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6" id="26"/>
          <p:cNvSpPr/>
          <p:nvPr/>
        </p:nvSpPr>
        <p:spPr>
          <a:xfrm flipH="false" flipV="false" rot="0">
            <a:off x="11920310" y="-1389251"/>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7" id="27"/>
          <p:cNvSpPr/>
          <p:nvPr/>
        </p:nvSpPr>
        <p:spPr>
          <a:xfrm flipH="false" flipV="false" rot="0">
            <a:off x="4479157" y="401122"/>
            <a:ext cx="1275904" cy="958523"/>
          </a:xfrm>
          <a:custGeom>
            <a:avLst/>
            <a:gdLst/>
            <a:ahLst/>
            <a:cxnLst/>
            <a:rect r="r" b="b" t="t" l="l"/>
            <a:pathLst>
              <a:path h="958523" w="1275904">
                <a:moveTo>
                  <a:pt x="0" y="0"/>
                </a:moveTo>
                <a:lnTo>
                  <a:pt x="1275905" y="0"/>
                </a:lnTo>
                <a:lnTo>
                  <a:pt x="1275905" y="958523"/>
                </a:lnTo>
                <a:lnTo>
                  <a:pt x="0" y="9585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8" id="28"/>
          <p:cNvSpPr/>
          <p:nvPr/>
        </p:nvSpPr>
        <p:spPr>
          <a:xfrm flipH="false" flipV="false" rot="0">
            <a:off x="16438031" y="2008101"/>
            <a:ext cx="1276939" cy="1086994"/>
          </a:xfrm>
          <a:custGeom>
            <a:avLst/>
            <a:gdLst/>
            <a:ahLst/>
            <a:cxnLst/>
            <a:rect r="r" b="b" t="t" l="l"/>
            <a:pathLst>
              <a:path h="1086994" w="1276939">
                <a:moveTo>
                  <a:pt x="0" y="0"/>
                </a:moveTo>
                <a:lnTo>
                  <a:pt x="1276939" y="0"/>
                </a:lnTo>
                <a:lnTo>
                  <a:pt x="1276939" y="1086995"/>
                </a:lnTo>
                <a:lnTo>
                  <a:pt x="0" y="10869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9" id="29"/>
          <p:cNvSpPr txBox="true"/>
          <p:nvPr/>
        </p:nvSpPr>
        <p:spPr>
          <a:xfrm rot="0">
            <a:off x="3299083" y="2321652"/>
            <a:ext cx="11689834"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Hasil Eksperimen</a:t>
            </a:r>
          </a:p>
        </p:txBody>
      </p:sp>
      <p:sp>
        <p:nvSpPr>
          <p:cNvPr name="TextBox 30" id="30"/>
          <p:cNvSpPr txBox="true"/>
          <p:nvPr/>
        </p:nvSpPr>
        <p:spPr>
          <a:xfrm rot="0">
            <a:off x="3092424" y="4009549"/>
            <a:ext cx="4745691" cy="566420"/>
          </a:xfrm>
          <a:prstGeom prst="rect">
            <a:avLst/>
          </a:prstGeom>
        </p:spPr>
        <p:txBody>
          <a:bodyPr anchor="t" rtlCol="false" tIns="0" lIns="0" bIns="0" rIns="0">
            <a:spAutoFit/>
          </a:bodyPr>
          <a:lstStyle/>
          <a:p>
            <a:pPr algn="ctr">
              <a:lnSpc>
                <a:spcPts val="4480"/>
              </a:lnSpc>
            </a:pPr>
            <a:r>
              <a:rPr lang="en-US" sz="3200">
                <a:solidFill>
                  <a:srgbClr val="FFFFFF"/>
                </a:solidFill>
                <a:latin typeface="Arimo"/>
                <a:ea typeface="Arimo"/>
                <a:cs typeface="Arimo"/>
                <a:sym typeface="Arimo"/>
              </a:rPr>
              <a:t>Classification Report:</a:t>
            </a:r>
          </a:p>
        </p:txBody>
      </p:sp>
      <p:sp>
        <p:nvSpPr>
          <p:cNvPr name="TextBox 31" id="31"/>
          <p:cNvSpPr txBox="true"/>
          <p:nvPr/>
        </p:nvSpPr>
        <p:spPr>
          <a:xfrm rot="0">
            <a:off x="10572251" y="3855183"/>
            <a:ext cx="3994068" cy="566420"/>
          </a:xfrm>
          <a:prstGeom prst="rect">
            <a:avLst/>
          </a:prstGeom>
        </p:spPr>
        <p:txBody>
          <a:bodyPr anchor="t" rtlCol="false" tIns="0" lIns="0" bIns="0" rIns="0">
            <a:spAutoFit/>
          </a:bodyPr>
          <a:lstStyle/>
          <a:p>
            <a:pPr algn="ctr">
              <a:lnSpc>
                <a:spcPts val="4480"/>
              </a:lnSpc>
            </a:pPr>
            <a:r>
              <a:rPr lang="en-US" sz="3200">
                <a:solidFill>
                  <a:srgbClr val="FFFFFF"/>
                </a:solidFill>
                <a:latin typeface="Arimo"/>
                <a:ea typeface="Arimo"/>
                <a:cs typeface="Arimo"/>
                <a:sym typeface="Arimo"/>
              </a:rPr>
              <a:t>Hasil Eksperimen</a:t>
            </a:r>
          </a:p>
        </p:txBody>
      </p:sp>
      <p:sp>
        <p:nvSpPr>
          <p:cNvPr name="TextBox 32" id="32"/>
          <p:cNvSpPr txBox="true"/>
          <p:nvPr/>
        </p:nvSpPr>
        <p:spPr>
          <a:xfrm rot="0">
            <a:off x="2377548" y="5124134"/>
            <a:ext cx="5959434" cy="2252345"/>
          </a:xfrm>
          <a:prstGeom prst="rect">
            <a:avLst/>
          </a:prstGeom>
        </p:spPr>
        <p:txBody>
          <a:bodyPr anchor="t" rtlCol="false" tIns="0" lIns="0" bIns="0" rIns="0">
            <a:spAutoFit/>
          </a:bodyPr>
          <a:lstStyle/>
          <a:p>
            <a:pPr algn="l" marL="690881" indent="-345440" lvl="1">
              <a:lnSpc>
                <a:spcPts val="4480"/>
              </a:lnSpc>
              <a:buAutoNum type="arabicPeriod" startAt="1"/>
            </a:pPr>
            <a:r>
              <a:rPr lang="en-US" b="true" sz="3200">
                <a:solidFill>
                  <a:srgbClr val="000000"/>
                </a:solidFill>
                <a:latin typeface="Arimo Bold"/>
                <a:ea typeface="Arimo Bold"/>
                <a:cs typeface="Arimo Bold"/>
                <a:sym typeface="Arimo Bold"/>
              </a:rPr>
              <a:t> Precision</a:t>
            </a:r>
            <a:r>
              <a:rPr lang="en-US" sz="3200">
                <a:solidFill>
                  <a:srgbClr val="000000"/>
                </a:solidFill>
                <a:latin typeface="Arimo"/>
                <a:ea typeface="Arimo"/>
                <a:cs typeface="Arimo"/>
                <a:sym typeface="Arimo"/>
              </a:rPr>
              <a:t> sekitar 48–52%</a:t>
            </a:r>
          </a:p>
          <a:p>
            <a:pPr algn="l" marL="690881" indent="-345440" lvl="1">
              <a:lnSpc>
                <a:spcPts val="4480"/>
              </a:lnSpc>
              <a:buAutoNum type="arabicPeriod" startAt="1"/>
            </a:pPr>
            <a:r>
              <a:rPr lang="en-US" sz="3200">
                <a:solidFill>
                  <a:srgbClr val="000000"/>
                </a:solidFill>
                <a:latin typeface="Arimo"/>
                <a:ea typeface="Arimo"/>
                <a:cs typeface="Arimo"/>
                <a:sym typeface="Arimo"/>
              </a:rPr>
              <a:t> </a:t>
            </a:r>
            <a:r>
              <a:rPr lang="en-US" b="true" sz="3200">
                <a:solidFill>
                  <a:srgbClr val="000000"/>
                </a:solidFill>
                <a:latin typeface="Arimo Bold"/>
                <a:ea typeface="Arimo Bold"/>
                <a:cs typeface="Arimo Bold"/>
                <a:sym typeface="Arimo Bold"/>
              </a:rPr>
              <a:t>Recall</a:t>
            </a:r>
            <a:r>
              <a:rPr lang="en-US" sz="3200">
                <a:solidFill>
                  <a:srgbClr val="000000"/>
                </a:solidFill>
                <a:latin typeface="Arimo"/>
                <a:ea typeface="Arimo"/>
                <a:cs typeface="Arimo"/>
                <a:sym typeface="Arimo"/>
              </a:rPr>
              <a:t> sekitar 48–52%</a:t>
            </a:r>
          </a:p>
          <a:p>
            <a:pPr algn="l" marL="690881" indent="-345440" lvl="1">
              <a:lnSpc>
                <a:spcPts val="4480"/>
              </a:lnSpc>
              <a:buAutoNum type="arabicPeriod" startAt="1"/>
            </a:pPr>
            <a:r>
              <a:rPr lang="en-US" sz="3200">
                <a:solidFill>
                  <a:srgbClr val="000000"/>
                </a:solidFill>
                <a:latin typeface="Arimo"/>
                <a:ea typeface="Arimo"/>
                <a:cs typeface="Arimo"/>
                <a:sym typeface="Arimo"/>
              </a:rPr>
              <a:t> </a:t>
            </a:r>
            <a:r>
              <a:rPr lang="en-US" b="true" sz="3200">
                <a:solidFill>
                  <a:srgbClr val="000000"/>
                </a:solidFill>
                <a:latin typeface="Arimo Bold"/>
                <a:ea typeface="Arimo Bold"/>
                <a:cs typeface="Arimo Bold"/>
                <a:sym typeface="Arimo Bold"/>
              </a:rPr>
              <a:t>F1-Score</a:t>
            </a:r>
            <a:r>
              <a:rPr lang="en-US" sz="3200">
                <a:solidFill>
                  <a:srgbClr val="000000"/>
                </a:solidFill>
                <a:latin typeface="Arimo"/>
                <a:ea typeface="Arimo"/>
                <a:cs typeface="Arimo"/>
                <a:sym typeface="Arimo"/>
              </a:rPr>
              <a:t> sekitar 48–52%</a:t>
            </a:r>
          </a:p>
          <a:p>
            <a:pPr algn="ctr">
              <a:lnSpc>
                <a:spcPts val="4480"/>
              </a:lnSpc>
            </a:pPr>
          </a:p>
        </p:txBody>
      </p:sp>
      <p:sp>
        <p:nvSpPr>
          <p:cNvPr name="TextBox 33" id="33"/>
          <p:cNvSpPr txBox="true"/>
          <p:nvPr/>
        </p:nvSpPr>
        <p:spPr>
          <a:xfrm rot="0">
            <a:off x="9753687" y="4758055"/>
            <a:ext cx="5631197" cy="4500245"/>
          </a:xfrm>
          <a:prstGeom prst="rect">
            <a:avLst/>
          </a:prstGeom>
        </p:spPr>
        <p:txBody>
          <a:bodyPr anchor="t" rtlCol="false" tIns="0" lIns="0" bIns="0" rIns="0">
            <a:spAutoFit/>
          </a:bodyPr>
          <a:lstStyle/>
          <a:p>
            <a:pPr algn="just">
              <a:lnSpc>
                <a:spcPts val="4480"/>
              </a:lnSpc>
            </a:pPr>
            <a:r>
              <a:rPr lang="en-US" sz="3200">
                <a:solidFill>
                  <a:srgbClr val="000000"/>
                </a:solidFill>
                <a:latin typeface="Arimo"/>
                <a:ea typeface="Arimo"/>
                <a:cs typeface="Arimo"/>
                <a:sym typeface="Arimo"/>
              </a:rPr>
              <a:t>Hasil menunjukkan model belum mampu membedakan kedua kelas secara optimal karena akurasinya masih mendekati 50%.</a:t>
            </a:r>
          </a:p>
          <a:p>
            <a:pPr algn="just">
              <a:lnSpc>
                <a:spcPts val="4480"/>
              </a:lnSpc>
            </a:pPr>
            <a:r>
              <a:rPr lang="en-US" sz="3200" b="true">
                <a:solidFill>
                  <a:srgbClr val="000000"/>
                </a:solidFill>
                <a:latin typeface="Arimo Bold"/>
                <a:ea typeface="Arimo Bold"/>
                <a:cs typeface="Arimo Bold"/>
                <a:sym typeface="Arimo Bold"/>
              </a:rPr>
              <a:t>Model:</a:t>
            </a:r>
          </a:p>
          <a:p>
            <a:pPr algn="just" marL="690881" indent="-345440" lvl="1">
              <a:lnSpc>
                <a:spcPts val="4480"/>
              </a:lnSpc>
              <a:buFont typeface="Arial"/>
              <a:buChar char="•"/>
            </a:pPr>
            <a:r>
              <a:rPr lang="en-US" sz="3200">
                <a:solidFill>
                  <a:srgbClr val="000000"/>
                </a:solidFill>
                <a:latin typeface="Arimo"/>
                <a:ea typeface="Arimo"/>
                <a:cs typeface="Arimo"/>
                <a:sym typeface="Arimo"/>
              </a:rPr>
              <a:t>Random Forest</a:t>
            </a:r>
          </a:p>
          <a:p>
            <a:pPr algn="just" marL="690881" indent="-345440" lvl="1">
              <a:lnSpc>
                <a:spcPts val="4480"/>
              </a:lnSpc>
              <a:buFont typeface="Arial"/>
              <a:buChar char="•"/>
            </a:pPr>
            <a:r>
              <a:rPr lang="en-US" sz="3200">
                <a:solidFill>
                  <a:srgbClr val="000000"/>
                </a:solidFill>
                <a:latin typeface="Arimo"/>
                <a:ea typeface="Arimo"/>
                <a:cs typeface="Arimo"/>
                <a:sym typeface="Arimo"/>
              </a:rPr>
              <a:t>10.000 data testing</a:t>
            </a:r>
          </a:p>
        </p:txBody>
      </p:sp>
      <p:grpSp>
        <p:nvGrpSpPr>
          <p:cNvPr name="Group 34" id="34"/>
          <p:cNvGrpSpPr/>
          <p:nvPr/>
        </p:nvGrpSpPr>
        <p:grpSpPr>
          <a:xfrm rot="0">
            <a:off x="2229009" y="7682942"/>
            <a:ext cx="6472521" cy="2579603"/>
            <a:chOff x="0" y="0"/>
            <a:chExt cx="1410123" cy="562004"/>
          </a:xfrm>
        </p:grpSpPr>
        <p:sp>
          <p:nvSpPr>
            <p:cNvPr name="Freeform 35" id="35"/>
            <p:cNvSpPr/>
            <p:nvPr/>
          </p:nvSpPr>
          <p:spPr>
            <a:xfrm flipH="false" flipV="false" rot="0">
              <a:off x="0" y="0"/>
              <a:ext cx="1410123" cy="562004"/>
            </a:xfrm>
            <a:custGeom>
              <a:avLst/>
              <a:gdLst/>
              <a:ahLst/>
              <a:cxnLst/>
              <a:rect r="r" b="b" t="t" l="l"/>
              <a:pathLst>
                <a:path h="562004" w="1410123">
                  <a:moveTo>
                    <a:pt x="1410123" y="0"/>
                  </a:moveTo>
                  <a:lnTo>
                    <a:pt x="1410123" y="562004"/>
                  </a:lnTo>
                  <a:lnTo>
                    <a:pt x="0" y="562004"/>
                  </a:lnTo>
                  <a:lnTo>
                    <a:pt x="0" y="0"/>
                  </a:lnTo>
                  <a:close/>
                </a:path>
              </a:pathLst>
            </a:custGeom>
            <a:solidFill>
              <a:srgbClr val="7B5EA8"/>
            </a:solidFill>
          </p:spPr>
        </p:sp>
        <p:sp>
          <p:nvSpPr>
            <p:cNvPr name="TextBox 36" id="36"/>
            <p:cNvSpPr txBox="true"/>
            <p:nvPr/>
          </p:nvSpPr>
          <p:spPr>
            <a:xfrm>
              <a:off x="0" y="-47625"/>
              <a:ext cx="1410123" cy="609629"/>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2133924" y="7682942"/>
            <a:ext cx="6446682" cy="2339137"/>
            <a:chOff x="0" y="0"/>
            <a:chExt cx="1404494" cy="509615"/>
          </a:xfrm>
        </p:grpSpPr>
        <p:sp>
          <p:nvSpPr>
            <p:cNvPr name="Freeform 38" id="38"/>
            <p:cNvSpPr/>
            <p:nvPr/>
          </p:nvSpPr>
          <p:spPr>
            <a:xfrm flipH="false" flipV="false" rot="0">
              <a:off x="0" y="0"/>
              <a:ext cx="1404494" cy="509615"/>
            </a:xfrm>
            <a:custGeom>
              <a:avLst/>
              <a:gdLst/>
              <a:ahLst/>
              <a:cxnLst/>
              <a:rect r="r" b="b" t="t" l="l"/>
              <a:pathLst>
                <a:path h="509615" w="1404494">
                  <a:moveTo>
                    <a:pt x="1404494" y="0"/>
                  </a:moveTo>
                  <a:lnTo>
                    <a:pt x="1404494" y="509615"/>
                  </a:lnTo>
                  <a:lnTo>
                    <a:pt x="0" y="509615"/>
                  </a:lnTo>
                  <a:lnTo>
                    <a:pt x="0" y="0"/>
                  </a:lnTo>
                  <a:close/>
                </a:path>
              </a:pathLst>
            </a:custGeom>
            <a:solidFill>
              <a:srgbClr val="D8E264"/>
            </a:solidFill>
          </p:spPr>
        </p:sp>
        <p:sp>
          <p:nvSpPr>
            <p:cNvPr name="TextBox 39" id="39"/>
            <p:cNvSpPr txBox="true"/>
            <p:nvPr/>
          </p:nvSpPr>
          <p:spPr>
            <a:xfrm>
              <a:off x="0" y="-47625"/>
              <a:ext cx="1404494" cy="557240"/>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2551529" y="7875866"/>
            <a:ext cx="5131161" cy="595433"/>
            <a:chOff x="0" y="0"/>
            <a:chExt cx="1117891" cy="129724"/>
          </a:xfrm>
        </p:grpSpPr>
        <p:sp>
          <p:nvSpPr>
            <p:cNvPr name="Freeform 41" id="41"/>
            <p:cNvSpPr/>
            <p:nvPr/>
          </p:nvSpPr>
          <p:spPr>
            <a:xfrm flipH="false" flipV="false" rot="0">
              <a:off x="0" y="0"/>
              <a:ext cx="1117891" cy="129724"/>
            </a:xfrm>
            <a:custGeom>
              <a:avLst/>
              <a:gdLst/>
              <a:ahLst/>
              <a:cxnLst/>
              <a:rect r="r" b="b" t="t" l="l"/>
              <a:pathLst>
                <a:path h="129724" w="1117891">
                  <a:moveTo>
                    <a:pt x="1117891" y="0"/>
                  </a:moveTo>
                  <a:lnTo>
                    <a:pt x="1117891" y="129724"/>
                  </a:lnTo>
                  <a:lnTo>
                    <a:pt x="0" y="129724"/>
                  </a:lnTo>
                  <a:lnTo>
                    <a:pt x="0" y="0"/>
                  </a:lnTo>
                  <a:close/>
                </a:path>
              </a:pathLst>
            </a:custGeom>
            <a:solidFill>
              <a:srgbClr val="7B5EA8"/>
            </a:solidFill>
          </p:spPr>
        </p:sp>
        <p:sp>
          <p:nvSpPr>
            <p:cNvPr name="TextBox 42" id="42"/>
            <p:cNvSpPr txBox="true"/>
            <p:nvPr/>
          </p:nvSpPr>
          <p:spPr>
            <a:xfrm>
              <a:off x="0" y="-47625"/>
              <a:ext cx="1117891" cy="177349"/>
            </a:xfrm>
            <a:prstGeom prst="rect">
              <a:avLst/>
            </a:prstGeom>
          </p:spPr>
          <p:txBody>
            <a:bodyPr anchor="ctr" rtlCol="false" tIns="50800" lIns="50800" bIns="50800" rIns="50800"/>
            <a:lstStyle/>
            <a:p>
              <a:pPr algn="ctr">
                <a:lnSpc>
                  <a:spcPts val="2659"/>
                </a:lnSpc>
              </a:pPr>
            </a:p>
          </p:txBody>
        </p:sp>
      </p:grpSp>
      <p:sp>
        <p:nvSpPr>
          <p:cNvPr name="TextBox 43" id="43"/>
          <p:cNvSpPr txBox="true"/>
          <p:nvPr/>
        </p:nvSpPr>
        <p:spPr>
          <a:xfrm rot="0">
            <a:off x="3120075" y="7847510"/>
            <a:ext cx="3994068" cy="566420"/>
          </a:xfrm>
          <a:prstGeom prst="rect">
            <a:avLst/>
          </a:prstGeom>
        </p:spPr>
        <p:txBody>
          <a:bodyPr anchor="t" rtlCol="false" tIns="0" lIns="0" bIns="0" rIns="0">
            <a:spAutoFit/>
          </a:bodyPr>
          <a:lstStyle/>
          <a:p>
            <a:pPr algn="ctr">
              <a:lnSpc>
                <a:spcPts val="4480"/>
              </a:lnSpc>
            </a:pPr>
            <a:r>
              <a:rPr lang="en-US" sz="3200">
                <a:solidFill>
                  <a:srgbClr val="FFFFFF"/>
                </a:solidFill>
                <a:latin typeface="Arimo"/>
                <a:ea typeface="Arimo"/>
                <a:cs typeface="Arimo"/>
                <a:sym typeface="Arimo"/>
              </a:rPr>
              <a:t>Hasil</a:t>
            </a:r>
          </a:p>
        </p:txBody>
      </p:sp>
      <p:sp>
        <p:nvSpPr>
          <p:cNvPr name="TextBox 44" id="44"/>
          <p:cNvSpPr txBox="true"/>
          <p:nvPr/>
        </p:nvSpPr>
        <p:spPr>
          <a:xfrm rot="0">
            <a:off x="2377548" y="8823724"/>
            <a:ext cx="5959434" cy="566420"/>
          </a:xfrm>
          <a:prstGeom prst="rect">
            <a:avLst/>
          </a:prstGeom>
        </p:spPr>
        <p:txBody>
          <a:bodyPr anchor="t" rtlCol="false" tIns="0" lIns="0" bIns="0" rIns="0">
            <a:spAutoFit/>
          </a:bodyPr>
          <a:lstStyle/>
          <a:p>
            <a:pPr algn="ctr">
              <a:lnSpc>
                <a:spcPts val="4480"/>
              </a:lnSpc>
            </a:pPr>
            <a:r>
              <a:rPr lang="en-US" sz="3200">
                <a:solidFill>
                  <a:srgbClr val="000000"/>
                </a:solidFill>
                <a:latin typeface="Arimo"/>
                <a:ea typeface="Arimo"/>
                <a:cs typeface="Arimo"/>
                <a:sym typeface="Arimo"/>
              </a:rPr>
              <a:t>Accuracy = </a:t>
            </a:r>
            <a:r>
              <a:rPr lang="en-US" sz="3200" b="true">
                <a:solidFill>
                  <a:srgbClr val="000000"/>
                </a:solidFill>
                <a:latin typeface="Arimo Bold"/>
                <a:ea typeface="Arimo Bold"/>
                <a:cs typeface="Arimo Bold"/>
                <a:sym typeface="Arimo Bold"/>
              </a:rPr>
              <a:t>49,81%</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3960874">
            <a:off x="-138012" y="-3005605"/>
            <a:ext cx="5986904" cy="6951412"/>
          </a:xfrm>
          <a:custGeom>
            <a:avLst/>
            <a:gdLst/>
            <a:ahLst/>
            <a:cxnLst/>
            <a:rect r="r" b="b" t="t" l="l"/>
            <a:pathLst>
              <a:path h="6951412" w="5986904">
                <a:moveTo>
                  <a:pt x="0" y="0"/>
                </a:moveTo>
                <a:lnTo>
                  <a:pt x="5986904" y="0"/>
                </a:lnTo>
                <a:lnTo>
                  <a:pt x="5986904" y="6951413"/>
                </a:lnTo>
                <a:lnTo>
                  <a:pt x="0" y="6951413"/>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448965">
            <a:off x="12405030" y="6992751"/>
            <a:ext cx="5183656" cy="6018759"/>
          </a:xfrm>
          <a:custGeom>
            <a:avLst/>
            <a:gdLst/>
            <a:ahLst/>
            <a:cxnLst/>
            <a:rect r="r" b="b" t="t" l="l"/>
            <a:pathLst>
              <a:path h="6018759" w="5183656">
                <a:moveTo>
                  <a:pt x="0" y="0"/>
                </a:moveTo>
                <a:lnTo>
                  <a:pt x="5183656" y="0"/>
                </a:lnTo>
                <a:lnTo>
                  <a:pt x="5183656" y="6018760"/>
                </a:lnTo>
                <a:lnTo>
                  <a:pt x="0" y="6018760"/>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flipV="true">
            <a:off x="1396705" y="1739140"/>
            <a:ext cx="7385293" cy="0"/>
          </a:xfrm>
          <a:prstGeom prst="line">
            <a:avLst/>
          </a:prstGeom>
          <a:ln cap="flat" w="38100">
            <a:solidFill>
              <a:srgbClr val="000000"/>
            </a:solidFill>
            <a:prstDash val="solid"/>
            <a:headEnd type="none" len="sm" w="sm"/>
            <a:tailEnd type="none" len="sm" w="sm"/>
          </a:ln>
        </p:spPr>
      </p:sp>
      <p:grpSp>
        <p:nvGrpSpPr>
          <p:cNvPr name="Group 6" id="6"/>
          <p:cNvGrpSpPr/>
          <p:nvPr/>
        </p:nvGrpSpPr>
        <p:grpSpPr>
          <a:xfrm rot="0">
            <a:off x="9866735" y="2158240"/>
            <a:ext cx="7385293" cy="4718665"/>
            <a:chOff x="0" y="0"/>
            <a:chExt cx="1740534" cy="1112082"/>
          </a:xfrm>
        </p:grpSpPr>
        <p:sp>
          <p:nvSpPr>
            <p:cNvPr name="Freeform 7" id="7"/>
            <p:cNvSpPr/>
            <p:nvPr/>
          </p:nvSpPr>
          <p:spPr>
            <a:xfrm flipH="false" flipV="false" rot="0">
              <a:off x="0" y="0"/>
              <a:ext cx="1740534" cy="1112082"/>
            </a:xfrm>
            <a:custGeom>
              <a:avLst/>
              <a:gdLst/>
              <a:ahLst/>
              <a:cxnLst/>
              <a:rect r="r" b="b" t="t" l="l"/>
              <a:pathLst>
                <a:path h="1112082" w="1740534">
                  <a:moveTo>
                    <a:pt x="1740534" y="0"/>
                  </a:moveTo>
                  <a:lnTo>
                    <a:pt x="1740534" y="1112082"/>
                  </a:lnTo>
                  <a:lnTo>
                    <a:pt x="0" y="1112082"/>
                  </a:lnTo>
                  <a:lnTo>
                    <a:pt x="0" y="0"/>
                  </a:lnTo>
                  <a:close/>
                </a:path>
              </a:pathLst>
            </a:custGeom>
            <a:solidFill>
              <a:srgbClr val="7B5EA8"/>
            </a:solidFill>
          </p:spPr>
        </p:sp>
        <p:sp>
          <p:nvSpPr>
            <p:cNvPr name="TextBox 8" id="8"/>
            <p:cNvSpPr txBox="true"/>
            <p:nvPr/>
          </p:nvSpPr>
          <p:spPr>
            <a:xfrm>
              <a:off x="0" y="-47625"/>
              <a:ext cx="1740534" cy="1159707"/>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9757807" y="3018500"/>
            <a:ext cx="7385293" cy="812140"/>
            <a:chOff x="0" y="0"/>
            <a:chExt cx="1740534" cy="191403"/>
          </a:xfrm>
        </p:grpSpPr>
        <p:sp>
          <p:nvSpPr>
            <p:cNvPr name="Freeform 10" id="10"/>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11" id="11"/>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9757807" y="3963990"/>
            <a:ext cx="7385293" cy="812140"/>
            <a:chOff x="0" y="0"/>
            <a:chExt cx="1740534" cy="191403"/>
          </a:xfrm>
        </p:grpSpPr>
        <p:sp>
          <p:nvSpPr>
            <p:cNvPr name="Freeform 13" id="13"/>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14" id="14"/>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9757807" y="4887420"/>
            <a:ext cx="7385293" cy="812140"/>
            <a:chOff x="0" y="0"/>
            <a:chExt cx="1740534" cy="191403"/>
          </a:xfrm>
        </p:grpSpPr>
        <p:sp>
          <p:nvSpPr>
            <p:cNvPr name="Freeform 16" id="16"/>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17" id="17"/>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9757807" y="5794810"/>
            <a:ext cx="7385293" cy="812140"/>
            <a:chOff x="0" y="0"/>
            <a:chExt cx="1740534" cy="191403"/>
          </a:xfrm>
        </p:grpSpPr>
        <p:sp>
          <p:nvSpPr>
            <p:cNvPr name="Freeform 19" id="19"/>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20" id="20"/>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sp>
        <p:nvSpPr>
          <p:cNvPr name="Freeform 21" id="21"/>
          <p:cNvSpPr/>
          <p:nvPr/>
        </p:nvSpPr>
        <p:spPr>
          <a:xfrm flipH="false" flipV="false" rot="0">
            <a:off x="10099526" y="323836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0099526" y="414575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0">
            <a:off x="10099526" y="505314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4" id="24"/>
          <p:cNvSpPr/>
          <p:nvPr/>
        </p:nvSpPr>
        <p:spPr>
          <a:xfrm flipH="false" flipV="false" rot="0">
            <a:off x="10099526" y="596053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14300919" y="9029554"/>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6" id="26"/>
          <p:cNvSpPr/>
          <p:nvPr/>
        </p:nvSpPr>
        <p:spPr>
          <a:xfrm flipH="false" flipV="false" rot="0">
            <a:off x="16129719" y="-1446401"/>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7" id="27"/>
          <p:cNvSpPr/>
          <p:nvPr/>
        </p:nvSpPr>
        <p:spPr>
          <a:xfrm flipH="false" flipV="false" rot="0">
            <a:off x="2898241" y="9446046"/>
            <a:ext cx="1410309" cy="726309"/>
          </a:xfrm>
          <a:custGeom>
            <a:avLst/>
            <a:gdLst/>
            <a:ahLst/>
            <a:cxnLst/>
            <a:rect r="r" b="b" t="t" l="l"/>
            <a:pathLst>
              <a:path h="726309" w="1410309">
                <a:moveTo>
                  <a:pt x="0" y="0"/>
                </a:moveTo>
                <a:lnTo>
                  <a:pt x="1410308" y="0"/>
                </a:lnTo>
                <a:lnTo>
                  <a:pt x="1410308" y="726309"/>
                </a:lnTo>
                <a:lnTo>
                  <a:pt x="0" y="7263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10830484" y="3144145"/>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Rol</a:t>
            </a:r>
            <a:r>
              <a:rPr lang="en-US" sz="3200">
                <a:solidFill>
                  <a:srgbClr val="000000"/>
                </a:solidFill>
                <a:latin typeface="Arimo"/>
                <a:ea typeface="Arimo"/>
                <a:cs typeface="Arimo"/>
                <a:sym typeface="Arimo"/>
              </a:rPr>
              <a:t>e</a:t>
            </a:r>
          </a:p>
        </p:txBody>
      </p:sp>
      <p:sp>
        <p:nvSpPr>
          <p:cNvPr name="TextBox 29" id="29"/>
          <p:cNvSpPr txBox="true"/>
          <p:nvPr/>
        </p:nvSpPr>
        <p:spPr>
          <a:xfrm rot="0">
            <a:off x="10830484" y="4051535"/>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Device</a:t>
            </a:r>
            <a:r>
              <a:rPr lang="en-US" sz="3200">
                <a:solidFill>
                  <a:srgbClr val="000000"/>
                </a:solidFill>
                <a:latin typeface="Arimo"/>
                <a:ea typeface="Arimo"/>
                <a:cs typeface="Arimo"/>
                <a:sym typeface="Arimo"/>
              </a:rPr>
              <a:t> Type</a:t>
            </a:r>
          </a:p>
        </p:txBody>
      </p:sp>
      <p:sp>
        <p:nvSpPr>
          <p:cNvPr name="TextBox 30" id="30"/>
          <p:cNvSpPr txBox="true"/>
          <p:nvPr/>
        </p:nvSpPr>
        <p:spPr>
          <a:xfrm rot="0">
            <a:off x="10830484" y="4958924"/>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Account</a:t>
            </a:r>
            <a:r>
              <a:rPr lang="en-US" sz="3200">
                <a:solidFill>
                  <a:srgbClr val="000000"/>
                </a:solidFill>
                <a:latin typeface="Arimo"/>
                <a:ea typeface="Arimo"/>
                <a:cs typeface="Arimo"/>
                <a:sym typeface="Arimo"/>
              </a:rPr>
              <a:t> Status</a:t>
            </a:r>
          </a:p>
        </p:txBody>
      </p:sp>
      <p:sp>
        <p:nvSpPr>
          <p:cNvPr name="TextBox 31" id="31"/>
          <p:cNvSpPr txBox="true"/>
          <p:nvPr/>
        </p:nvSpPr>
        <p:spPr>
          <a:xfrm rot="0">
            <a:off x="10830484" y="5866314"/>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MFA</a:t>
            </a:r>
            <a:r>
              <a:rPr lang="en-US" sz="3200">
                <a:solidFill>
                  <a:srgbClr val="000000"/>
                </a:solidFill>
                <a:latin typeface="Arimo"/>
                <a:ea typeface="Arimo"/>
                <a:cs typeface="Arimo"/>
                <a:sym typeface="Arimo"/>
              </a:rPr>
              <a:t> Enabled</a:t>
            </a:r>
          </a:p>
        </p:txBody>
      </p:sp>
      <p:sp>
        <p:nvSpPr>
          <p:cNvPr name="TextBox 32" id="32"/>
          <p:cNvSpPr txBox="true"/>
          <p:nvPr/>
        </p:nvSpPr>
        <p:spPr>
          <a:xfrm rot="0">
            <a:off x="1164883" y="591163"/>
            <a:ext cx="8157464"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Feature Importance</a:t>
            </a:r>
          </a:p>
        </p:txBody>
      </p:sp>
      <p:grpSp>
        <p:nvGrpSpPr>
          <p:cNvPr name="Group 33" id="33"/>
          <p:cNvGrpSpPr/>
          <p:nvPr/>
        </p:nvGrpSpPr>
        <p:grpSpPr>
          <a:xfrm rot="0">
            <a:off x="1496255" y="2158240"/>
            <a:ext cx="7385293" cy="6093099"/>
            <a:chOff x="0" y="0"/>
            <a:chExt cx="1740534" cy="1436005"/>
          </a:xfrm>
        </p:grpSpPr>
        <p:sp>
          <p:nvSpPr>
            <p:cNvPr name="Freeform 34" id="34"/>
            <p:cNvSpPr/>
            <p:nvPr/>
          </p:nvSpPr>
          <p:spPr>
            <a:xfrm flipH="false" flipV="false" rot="0">
              <a:off x="0" y="0"/>
              <a:ext cx="1740534" cy="1436005"/>
            </a:xfrm>
            <a:custGeom>
              <a:avLst/>
              <a:gdLst/>
              <a:ahLst/>
              <a:cxnLst/>
              <a:rect r="r" b="b" t="t" l="l"/>
              <a:pathLst>
                <a:path h="1436005" w="1740534">
                  <a:moveTo>
                    <a:pt x="1740534" y="0"/>
                  </a:moveTo>
                  <a:lnTo>
                    <a:pt x="1740534" y="1436005"/>
                  </a:lnTo>
                  <a:lnTo>
                    <a:pt x="0" y="1436005"/>
                  </a:lnTo>
                  <a:lnTo>
                    <a:pt x="0" y="0"/>
                  </a:lnTo>
                  <a:close/>
                </a:path>
              </a:pathLst>
            </a:custGeom>
            <a:solidFill>
              <a:srgbClr val="7B5EA8"/>
            </a:solidFill>
          </p:spPr>
        </p:sp>
        <p:sp>
          <p:nvSpPr>
            <p:cNvPr name="TextBox 35" id="35"/>
            <p:cNvSpPr txBox="true"/>
            <p:nvPr/>
          </p:nvSpPr>
          <p:spPr>
            <a:xfrm>
              <a:off x="0" y="-47625"/>
              <a:ext cx="1740534" cy="1483630"/>
            </a:xfrm>
            <a:prstGeom prst="rect">
              <a:avLst/>
            </a:prstGeom>
          </p:spPr>
          <p:txBody>
            <a:bodyPr anchor="ctr" rtlCol="false" tIns="50800" lIns="50800" bIns="50800" rIns="50800"/>
            <a:lstStyle/>
            <a:p>
              <a:pPr algn="ctr">
                <a:lnSpc>
                  <a:spcPts val="2659"/>
                </a:lnSpc>
              </a:pPr>
            </a:p>
          </p:txBody>
        </p:sp>
      </p:grpSp>
      <p:grpSp>
        <p:nvGrpSpPr>
          <p:cNvPr name="Group 36" id="36"/>
          <p:cNvGrpSpPr/>
          <p:nvPr/>
        </p:nvGrpSpPr>
        <p:grpSpPr>
          <a:xfrm rot="0">
            <a:off x="1396705" y="3201295"/>
            <a:ext cx="7385293" cy="812140"/>
            <a:chOff x="0" y="0"/>
            <a:chExt cx="1740534" cy="191403"/>
          </a:xfrm>
        </p:grpSpPr>
        <p:sp>
          <p:nvSpPr>
            <p:cNvPr name="Freeform 37" id="37"/>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38" id="38"/>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grpSp>
        <p:nvGrpSpPr>
          <p:cNvPr name="Group 39" id="39"/>
          <p:cNvGrpSpPr/>
          <p:nvPr/>
        </p:nvGrpSpPr>
        <p:grpSpPr>
          <a:xfrm rot="0">
            <a:off x="1396705" y="4145752"/>
            <a:ext cx="7385293" cy="812140"/>
            <a:chOff x="0" y="0"/>
            <a:chExt cx="1740534" cy="191403"/>
          </a:xfrm>
        </p:grpSpPr>
        <p:sp>
          <p:nvSpPr>
            <p:cNvPr name="Freeform 40" id="40"/>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41" id="41"/>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grpSp>
        <p:nvGrpSpPr>
          <p:cNvPr name="Group 42" id="42"/>
          <p:cNvGrpSpPr/>
          <p:nvPr/>
        </p:nvGrpSpPr>
        <p:grpSpPr>
          <a:xfrm rot="0">
            <a:off x="1396705" y="5119274"/>
            <a:ext cx="7385293" cy="812140"/>
            <a:chOff x="0" y="0"/>
            <a:chExt cx="1740534" cy="191403"/>
          </a:xfrm>
        </p:grpSpPr>
        <p:sp>
          <p:nvSpPr>
            <p:cNvPr name="Freeform 43" id="43"/>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44" id="44"/>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grpSp>
        <p:nvGrpSpPr>
          <p:cNvPr name="Group 45" id="45"/>
          <p:cNvGrpSpPr/>
          <p:nvPr/>
        </p:nvGrpSpPr>
        <p:grpSpPr>
          <a:xfrm rot="0">
            <a:off x="9757807" y="2076020"/>
            <a:ext cx="7385293" cy="812140"/>
            <a:chOff x="0" y="0"/>
            <a:chExt cx="1740534" cy="191403"/>
          </a:xfrm>
        </p:grpSpPr>
        <p:sp>
          <p:nvSpPr>
            <p:cNvPr name="Freeform 46" id="46"/>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47" id="47"/>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grpSp>
        <p:nvGrpSpPr>
          <p:cNvPr name="Group 48" id="48"/>
          <p:cNvGrpSpPr/>
          <p:nvPr/>
        </p:nvGrpSpPr>
        <p:grpSpPr>
          <a:xfrm rot="0">
            <a:off x="1396705" y="2274855"/>
            <a:ext cx="7385293" cy="812140"/>
            <a:chOff x="0" y="0"/>
            <a:chExt cx="1740534" cy="191403"/>
          </a:xfrm>
        </p:grpSpPr>
        <p:sp>
          <p:nvSpPr>
            <p:cNvPr name="Freeform 49" id="49"/>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50" id="50"/>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grpSp>
        <p:nvGrpSpPr>
          <p:cNvPr name="Group 51" id="51"/>
          <p:cNvGrpSpPr/>
          <p:nvPr/>
        </p:nvGrpSpPr>
        <p:grpSpPr>
          <a:xfrm rot="0">
            <a:off x="1396705" y="6064764"/>
            <a:ext cx="7385293" cy="812140"/>
            <a:chOff x="0" y="0"/>
            <a:chExt cx="1740534" cy="191403"/>
          </a:xfrm>
        </p:grpSpPr>
        <p:sp>
          <p:nvSpPr>
            <p:cNvPr name="Freeform 52" id="52"/>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53" id="53"/>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1396705" y="7038829"/>
            <a:ext cx="7385293" cy="812140"/>
            <a:chOff x="0" y="0"/>
            <a:chExt cx="1740534" cy="191403"/>
          </a:xfrm>
        </p:grpSpPr>
        <p:sp>
          <p:nvSpPr>
            <p:cNvPr name="Freeform 55" id="55"/>
            <p:cNvSpPr/>
            <p:nvPr/>
          </p:nvSpPr>
          <p:spPr>
            <a:xfrm flipH="false" flipV="false" rot="0">
              <a:off x="0" y="0"/>
              <a:ext cx="1740534" cy="191403"/>
            </a:xfrm>
            <a:custGeom>
              <a:avLst/>
              <a:gdLst/>
              <a:ahLst/>
              <a:cxnLst/>
              <a:rect r="r" b="b" t="t" l="l"/>
              <a:pathLst>
                <a:path h="191403" w="1740534">
                  <a:moveTo>
                    <a:pt x="1740534" y="0"/>
                  </a:moveTo>
                  <a:lnTo>
                    <a:pt x="1740534" y="191403"/>
                  </a:lnTo>
                  <a:lnTo>
                    <a:pt x="0" y="191403"/>
                  </a:lnTo>
                  <a:lnTo>
                    <a:pt x="0" y="0"/>
                  </a:lnTo>
                  <a:close/>
                </a:path>
              </a:pathLst>
            </a:custGeom>
            <a:solidFill>
              <a:srgbClr val="D8E264"/>
            </a:solidFill>
          </p:spPr>
        </p:sp>
        <p:sp>
          <p:nvSpPr>
            <p:cNvPr name="TextBox 56" id="56"/>
            <p:cNvSpPr txBox="true"/>
            <p:nvPr/>
          </p:nvSpPr>
          <p:spPr>
            <a:xfrm>
              <a:off x="0" y="-47625"/>
              <a:ext cx="1740534" cy="239028"/>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9826879" y="7200754"/>
            <a:ext cx="4416637" cy="3436388"/>
            <a:chOff x="0" y="0"/>
            <a:chExt cx="5888849" cy="4581851"/>
          </a:xfrm>
        </p:grpSpPr>
        <p:sp>
          <p:nvSpPr>
            <p:cNvPr name="Freeform 58" id="58"/>
            <p:cNvSpPr/>
            <p:nvPr/>
          </p:nvSpPr>
          <p:spPr>
            <a:xfrm flipH="false" flipV="false" rot="0">
              <a:off x="54893" y="52579"/>
              <a:ext cx="5833957" cy="4529272"/>
            </a:xfrm>
            <a:custGeom>
              <a:avLst/>
              <a:gdLst/>
              <a:ahLst/>
              <a:cxnLst/>
              <a:rect r="r" b="b" t="t" l="l"/>
              <a:pathLst>
                <a:path h="4529272" w="5833957">
                  <a:moveTo>
                    <a:pt x="0" y="0"/>
                  </a:moveTo>
                  <a:lnTo>
                    <a:pt x="5833956" y="0"/>
                  </a:lnTo>
                  <a:lnTo>
                    <a:pt x="5833956" y="4529272"/>
                  </a:lnTo>
                  <a:lnTo>
                    <a:pt x="0" y="452927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59" id="59"/>
            <p:cNvSpPr/>
            <p:nvPr/>
          </p:nvSpPr>
          <p:spPr>
            <a:xfrm flipH="false" flipV="false" rot="0">
              <a:off x="0" y="0"/>
              <a:ext cx="5833957" cy="4529272"/>
            </a:xfrm>
            <a:custGeom>
              <a:avLst/>
              <a:gdLst/>
              <a:ahLst/>
              <a:cxnLst/>
              <a:rect r="r" b="b" t="t" l="l"/>
              <a:pathLst>
                <a:path h="4529272" w="5833957">
                  <a:moveTo>
                    <a:pt x="0" y="0"/>
                  </a:moveTo>
                  <a:lnTo>
                    <a:pt x="5833957" y="0"/>
                  </a:lnTo>
                  <a:lnTo>
                    <a:pt x="5833957" y="4529272"/>
                  </a:lnTo>
                  <a:lnTo>
                    <a:pt x="0" y="452927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Freeform 60" id="60"/>
          <p:cNvSpPr/>
          <p:nvPr/>
        </p:nvSpPr>
        <p:spPr>
          <a:xfrm flipH="false" flipV="false" rot="0">
            <a:off x="1716814" y="2440577"/>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1" id="61"/>
          <p:cNvSpPr/>
          <p:nvPr/>
        </p:nvSpPr>
        <p:spPr>
          <a:xfrm flipH="false" flipV="false" rot="0">
            <a:off x="1716814" y="3367017"/>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2" id="62"/>
          <p:cNvSpPr/>
          <p:nvPr/>
        </p:nvSpPr>
        <p:spPr>
          <a:xfrm flipH="false" flipV="false" rot="0">
            <a:off x="1716814" y="4293457"/>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3" id="63"/>
          <p:cNvSpPr/>
          <p:nvPr/>
        </p:nvSpPr>
        <p:spPr>
          <a:xfrm flipH="false" flipV="false" rot="0">
            <a:off x="1716814" y="526269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4" id="64"/>
          <p:cNvSpPr/>
          <p:nvPr/>
        </p:nvSpPr>
        <p:spPr>
          <a:xfrm flipH="false" flipV="false" rot="0">
            <a:off x="1716814" y="6207639"/>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5" id="65"/>
          <p:cNvSpPr/>
          <p:nvPr/>
        </p:nvSpPr>
        <p:spPr>
          <a:xfrm flipH="false" flipV="false" rot="0">
            <a:off x="1716814" y="7153129"/>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6" id="66"/>
          <p:cNvSpPr/>
          <p:nvPr/>
        </p:nvSpPr>
        <p:spPr>
          <a:xfrm flipH="false" flipV="false" rot="0">
            <a:off x="10099526" y="2214672"/>
            <a:ext cx="480695" cy="480695"/>
          </a:xfrm>
          <a:custGeom>
            <a:avLst/>
            <a:gdLst/>
            <a:ahLst/>
            <a:cxnLst/>
            <a:rect r="r" b="b" t="t" l="l"/>
            <a:pathLst>
              <a:path h="480695" w="480695">
                <a:moveTo>
                  <a:pt x="0" y="0"/>
                </a:moveTo>
                <a:lnTo>
                  <a:pt x="480695" y="0"/>
                </a:lnTo>
                <a:lnTo>
                  <a:pt x="480695" y="480695"/>
                </a:lnTo>
                <a:lnTo>
                  <a:pt x="0" y="4806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7" id="67"/>
          <p:cNvSpPr txBox="true"/>
          <p:nvPr/>
        </p:nvSpPr>
        <p:spPr>
          <a:xfrm rot="0">
            <a:off x="2460004" y="2396365"/>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Location </a:t>
            </a:r>
            <a:r>
              <a:rPr lang="en-US" sz="3200" b="true">
                <a:solidFill>
                  <a:srgbClr val="000000"/>
                </a:solidFill>
                <a:latin typeface="Arimo Bold"/>
                <a:ea typeface="Arimo Bold"/>
                <a:cs typeface="Arimo Bold"/>
                <a:sym typeface="Arimo Bold"/>
              </a:rPr>
              <a:t>(25,75%)</a:t>
            </a:r>
          </a:p>
        </p:txBody>
      </p:sp>
      <p:sp>
        <p:nvSpPr>
          <p:cNvPr name="TextBox 68" id="68"/>
          <p:cNvSpPr txBox="true"/>
          <p:nvPr/>
        </p:nvSpPr>
        <p:spPr>
          <a:xfrm rot="0">
            <a:off x="2460004" y="3290301"/>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Hour </a:t>
            </a:r>
            <a:r>
              <a:rPr lang="en-US" sz="3200" b="true">
                <a:solidFill>
                  <a:srgbClr val="000000"/>
                </a:solidFill>
                <a:latin typeface="Arimo Bold"/>
                <a:ea typeface="Arimo Bold"/>
                <a:cs typeface="Arimo Bold"/>
                <a:sym typeface="Arimo Bold"/>
              </a:rPr>
              <a:t>(16,36%)</a:t>
            </a:r>
          </a:p>
        </p:txBody>
      </p:sp>
      <p:sp>
        <p:nvSpPr>
          <p:cNvPr name="TextBox 69" id="69"/>
          <p:cNvSpPr txBox="true"/>
          <p:nvPr/>
        </p:nvSpPr>
        <p:spPr>
          <a:xfrm rot="0">
            <a:off x="2460004" y="4240282"/>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Failed Attempts </a:t>
            </a:r>
            <a:r>
              <a:rPr lang="en-US" sz="3200" b="true">
                <a:solidFill>
                  <a:srgbClr val="000000"/>
                </a:solidFill>
                <a:latin typeface="Arimo Bold"/>
                <a:ea typeface="Arimo Bold"/>
                <a:cs typeface="Arimo Bold"/>
                <a:sym typeface="Arimo Bold"/>
              </a:rPr>
              <a:t>(12%)</a:t>
            </a:r>
          </a:p>
        </p:txBody>
      </p:sp>
      <p:sp>
        <p:nvSpPr>
          <p:cNvPr name="TextBox 70" id="70"/>
          <p:cNvSpPr txBox="true"/>
          <p:nvPr/>
        </p:nvSpPr>
        <p:spPr>
          <a:xfrm rot="0">
            <a:off x="2460004" y="5190263"/>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Privilege Lev</a:t>
            </a:r>
            <a:r>
              <a:rPr lang="en-US" sz="3200">
                <a:solidFill>
                  <a:srgbClr val="000000"/>
                </a:solidFill>
                <a:latin typeface="Arimo"/>
                <a:ea typeface="Arimo"/>
                <a:cs typeface="Arimo"/>
                <a:sym typeface="Arimo"/>
              </a:rPr>
              <a:t>el</a:t>
            </a:r>
          </a:p>
        </p:txBody>
      </p:sp>
      <p:sp>
        <p:nvSpPr>
          <p:cNvPr name="TextBox 71" id="71"/>
          <p:cNvSpPr txBox="true"/>
          <p:nvPr/>
        </p:nvSpPr>
        <p:spPr>
          <a:xfrm rot="0">
            <a:off x="2460004" y="6140244"/>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Brows</a:t>
            </a:r>
            <a:r>
              <a:rPr lang="en-US" sz="3200">
                <a:solidFill>
                  <a:srgbClr val="000000"/>
                </a:solidFill>
                <a:latin typeface="Arimo"/>
                <a:ea typeface="Arimo"/>
                <a:cs typeface="Arimo"/>
                <a:sym typeface="Arimo"/>
              </a:rPr>
              <a:t>er</a:t>
            </a:r>
          </a:p>
        </p:txBody>
      </p:sp>
      <p:sp>
        <p:nvSpPr>
          <p:cNvPr name="TextBox 72" id="72"/>
          <p:cNvSpPr txBox="true"/>
          <p:nvPr/>
        </p:nvSpPr>
        <p:spPr>
          <a:xfrm rot="0">
            <a:off x="2460004" y="7090225"/>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OS Typ</a:t>
            </a:r>
            <a:r>
              <a:rPr lang="en-US" sz="3200">
                <a:solidFill>
                  <a:srgbClr val="000000"/>
                </a:solidFill>
                <a:latin typeface="Arimo"/>
                <a:ea typeface="Arimo"/>
                <a:cs typeface="Arimo"/>
                <a:sym typeface="Arimo"/>
              </a:rPr>
              <a:t>e</a:t>
            </a:r>
          </a:p>
        </p:txBody>
      </p:sp>
      <p:sp>
        <p:nvSpPr>
          <p:cNvPr name="TextBox 73" id="73"/>
          <p:cNvSpPr txBox="true"/>
          <p:nvPr/>
        </p:nvSpPr>
        <p:spPr>
          <a:xfrm rot="0">
            <a:off x="10846921" y="2204430"/>
            <a:ext cx="6421545" cy="566420"/>
          </a:xfrm>
          <a:prstGeom prst="rect">
            <a:avLst/>
          </a:prstGeom>
        </p:spPr>
        <p:txBody>
          <a:bodyPr anchor="t" rtlCol="false" tIns="0" lIns="0" bIns="0" rIns="0">
            <a:spAutoFit/>
          </a:bodyPr>
          <a:lstStyle/>
          <a:p>
            <a:pPr algn="l">
              <a:lnSpc>
                <a:spcPts val="4480"/>
              </a:lnSpc>
            </a:pPr>
            <a:r>
              <a:rPr lang="en-US" sz="3200">
                <a:solidFill>
                  <a:srgbClr val="000000"/>
                </a:solidFill>
                <a:latin typeface="Arimo"/>
                <a:ea typeface="Arimo"/>
                <a:cs typeface="Arimo"/>
                <a:sym typeface="Arimo"/>
              </a:rPr>
              <a:t>Login M</a:t>
            </a:r>
            <a:r>
              <a:rPr lang="en-US" sz="3200">
                <a:solidFill>
                  <a:srgbClr val="000000"/>
                </a:solidFill>
                <a:latin typeface="Arimo"/>
                <a:ea typeface="Arimo"/>
                <a:cs typeface="Arimo"/>
                <a:sym typeface="Arimo"/>
              </a:rPr>
              <a:t>ethod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585935">
            <a:off x="9240661" y="-2897197"/>
            <a:ext cx="4889020" cy="5794395"/>
          </a:xfrm>
          <a:custGeom>
            <a:avLst/>
            <a:gdLst/>
            <a:ahLst/>
            <a:cxnLst/>
            <a:rect r="r" b="b" t="t" l="l"/>
            <a:pathLst>
              <a:path h="5794395" w="4889020">
                <a:moveTo>
                  <a:pt x="0" y="0"/>
                </a:moveTo>
                <a:lnTo>
                  <a:pt x="4889020" y="0"/>
                </a:lnTo>
                <a:lnTo>
                  <a:pt x="4889020" y="5794394"/>
                </a:lnTo>
                <a:lnTo>
                  <a:pt x="0" y="5794394"/>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65431">
            <a:off x="1613829" y="6005438"/>
            <a:ext cx="4889020" cy="5794395"/>
          </a:xfrm>
          <a:custGeom>
            <a:avLst/>
            <a:gdLst/>
            <a:ahLst/>
            <a:cxnLst/>
            <a:rect r="r" b="b" t="t" l="l"/>
            <a:pathLst>
              <a:path h="5794395" w="4889020">
                <a:moveTo>
                  <a:pt x="0" y="0"/>
                </a:moveTo>
                <a:lnTo>
                  <a:pt x="4889021" y="0"/>
                </a:lnTo>
                <a:lnTo>
                  <a:pt x="4889021" y="5794394"/>
                </a:lnTo>
                <a:lnTo>
                  <a:pt x="0" y="5794394"/>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155878" y="3118723"/>
            <a:ext cx="8622606" cy="6824162"/>
            <a:chOff x="0" y="0"/>
            <a:chExt cx="2032139" cy="1608300"/>
          </a:xfrm>
        </p:grpSpPr>
        <p:sp>
          <p:nvSpPr>
            <p:cNvPr name="Freeform 6" id="6"/>
            <p:cNvSpPr/>
            <p:nvPr/>
          </p:nvSpPr>
          <p:spPr>
            <a:xfrm flipH="false" flipV="false" rot="0">
              <a:off x="0" y="0"/>
              <a:ext cx="2032139" cy="1608300"/>
            </a:xfrm>
            <a:custGeom>
              <a:avLst/>
              <a:gdLst/>
              <a:ahLst/>
              <a:cxnLst/>
              <a:rect r="r" b="b" t="t" l="l"/>
              <a:pathLst>
                <a:path h="1608300" w="2032139">
                  <a:moveTo>
                    <a:pt x="2032139" y="0"/>
                  </a:moveTo>
                  <a:lnTo>
                    <a:pt x="2032139" y="1608300"/>
                  </a:lnTo>
                  <a:lnTo>
                    <a:pt x="0" y="1608300"/>
                  </a:lnTo>
                  <a:lnTo>
                    <a:pt x="0" y="0"/>
                  </a:lnTo>
                  <a:close/>
                </a:path>
              </a:pathLst>
            </a:custGeom>
            <a:solidFill>
              <a:srgbClr val="7B5EA8"/>
            </a:solidFill>
          </p:spPr>
        </p:sp>
        <p:sp>
          <p:nvSpPr>
            <p:cNvPr name="TextBox 7" id="7"/>
            <p:cNvSpPr txBox="true"/>
            <p:nvPr/>
          </p:nvSpPr>
          <p:spPr>
            <a:xfrm>
              <a:off x="0" y="-47625"/>
              <a:ext cx="2032139" cy="16559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3072640"/>
            <a:ext cx="8622606" cy="6636126"/>
            <a:chOff x="0" y="0"/>
            <a:chExt cx="2032139" cy="1563984"/>
          </a:xfrm>
        </p:grpSpPr>
        <p:sp>
          <p:nvSpPr>
            <p:cNvPr name="Freeform 9" id="9"/>
            <p:cNvSpPr/>
            <p:nvPr/>
          </p:nvSpPr>
          <p:spPr>
            <a:xfrm flipH="false" flipV="false" rot="0">
              <a:off x="0" y="0"/>
              <a:ext cx="2032139" cy="1563984"/>
            </a:xfrm>
            <a:custGeom>
              <a:avLst/>
              <a:gdLst/>
              <a:ahLst/>
              <a:cxnLst/>
              <a:rect r="r" b="b" t="t" l="l"/>
              <a:pathLst>
                <a:path h="1563984" w="2032139">
                  <a:moveTo>
                    <a:pt x="2032139" y="0"/>
                  </a:moveTo>
                  <a:lnTo>
                    <a:pt x="2032139" y="1563984"/>
                  </a:lnTo>
                  <a:lnTo>
                    <a:pt x="0" y="1563984"/>
                  </a:lnTo>
                  <a:lnTo>
                    <a:pt x="0" y="0"/>
                  </a:lnTo>
                  <a:close/>
                </a:path>
              </a:pathLst>
            </a:custGeom>
            <a:solidFill>
              <a:srgbClr val="D8E264"/>
            </a:solidFill>
          </p:spPr>
        </p:sp>
        <p:sp>
          <p:nvSpPr>
            <p:cNvPr name="TextBox 10" id="10"/>
            <p:cNvSpPr txBox="true"/>
            <p:nvPr/>
          </p:nvSpPr>
          <p:spPr>
            <a:xfrm>
              <a:off x="0" y="-47625"/>
              <a:ext cx="2032139" cy="1611609"/>
            </a:xfrm>
            <a:prstGeom prst="rect">
              <a:avLst/>
            </a:prstGeom>
          </p:spPr>
          <p:txBody>
            <a:bodyPr anchor="ctr" rtlCol="false" tIns="50800" lIns="50800" bIns="50800" rIns="50800"/>
            <a:lstStyle/>
            <a:p>
              <a:pPr algn="ctr">
                <a:lnSpc>
                  <a:spcPts val="2659"/>
                </a:lnSpc>
              </a:pPr>
            </a:p>
          </p:txBody>
        </p:sp>
      </p:grpSp>
      <p:sp>
        <p:nvSpPr>
          <p:cNvPr name="AutoShape 11" id="11"/>
          <p:cNvSpPr/>
          <p:nvPr/>
        </p:nvSpPr>
        <p:spPr>
          <a:xfrm>
            <a:off x="1028700" y="2590578"/>
            <a:ext cx="8749784" cy="0"/>
          </a:xfrm>
          <a:prstGeom prst="line">
            <a:avLst/>
          </a:prstGeom>
          <a:ln cap="flat" w="38100">
            <a:solidFill>
              <a:srgbClr val="000000"/>
            </a:solidFill>
            <a:prstDash val="solid"/>
            <a:headEnd type="none" len="sm" w="sm"/>
            <a:tailEnd type="none" len="sm" w="sm"/>
          </a:ln>
        </p:spPr>
      </p:sp>
      <p:sp>
        <p:nvSpPr>
          <p:cNvPr name="Freeform 12" id="12"/>
          <p:cNvSpPr/>
          <p:nvPr/>
        </p:nvSpPr>
        <p:spPr>
          <a:xfrm flipH="false" flipV="false" rot="0">
            <a:off x="10125620" y="1755746"/>
            <a:ext cx="7427179" cy="7578754"/>
          </a:xfrm>
          <a:custGeom>
            <a:avLst/>
            <a:gdLst/>
            <a:ahLst/>
            <a:cxnLst/>
            <a:rect r="r" b="b" t="t" l="l"/>
            <a:pathLst>
              <a:path h="7578754" w="7427179">
                <a:moveTo>
                  <a:pt x="0" y="0"/>
                </a:moveTo>
                <a:lnTo>
                  <a:pt x="7427178" y="0"/>
                </a:lnTo>
                <a:lnTo>
                  <a:pt x="7427178" y="7578754"/>
                </a:lnTo>
                <a:lnTo>
                  <a:pt x="0" y="75787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0049420" y="1679546"/>
            <a:ext cx="7427179" cy="7578754"/>
          </a:xfrm>
          <a:custGeom>
            <a:avLst/>
            <a:gdLst/>
            <a:ahLst/>
            <a:cxnLst/>
            <a:rect r="r" b="b" t="t" l="l"/>
            <a:pathLst>
              <a:path h="7578754" w="7427179">
                <a:moveTo>
                  <a:pt x="0" y="0"/>
                </a:moveTo>
                <a:lnTo>
                  <a:pt x="7427178" y="0"/>
                </a:lnTo>
                <a:lnTo>
                  <a:pt x="7427178" y="7578754"/>
                </a:lnTo>
                <a:lnTo>
                  <a:pt x="0" y="757875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4" id="14"/>
          <p:cNvSpPr/>
          <p:nvPr/>
        </p:nvSpPr>
        <p:spPr>
          <a:xfrm flipH="false" flipV="false" rot="0">
            <a:off x="16140238" y="634169"/>
            <a:ext cx="1763267" cy="789062"/>
          </a:xfrm>
          <a:custGeom>
            <a:avLst/>
            <a:gdLst/>
            <a:ahLst/>
            <a:cxnLst/>
            <a:rect r="r" b="b" t="t" l="l"/>
            <a:pathLst>
              <a:path h="789062" w="1763267">
                <a:moveTo>
                  <a:pt x="0" y="0"/>
                </a:moveTo>
                <a:lnTo>
                  <a:pt x="1763267" y="0"/>
                </a:lnTo>
                <a:lnTo>
                  <a:pt x="1763267" y="789062"/>
                </a:lnTo>
                <a:lnTo>
                  <a:pt x="0" y="78906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5" id="15"/>
          <p:cNvSpPr/>
          <p:nvPr/>
        </p:nvSpPr>
        <p:spPr>
          <a:xfrm flipH="false" flipV="false" rot="0">
            <a:off x="11064389" y="9165268"/>
            <a:ext cx="1276939" cy="1086994"/>
          </a:xfrm>
          <a:custGeom>
            <a:avLst/>
            <a:gdLst/>
            <a:ahLst/>
            <a:cxnLst/>
            <a:rect r="r" b="b" t="t" l="l"/>
            <a:pathLst>
              <a:path h="1086994" w="1276939">
                <a:moveTo>
                  <a:pt x="0" y="0"/>
                </a:moveTo>
                <a:lnTo>
                  <a:pt x="1276938" y="0"/>
                </a:lnTo>
                <a:lnTo>
                  <a:pt x="1276938" y="1086994"/>
                </a:lnTo>
                <a:lnTo>
                  <a:pt x="0" y="108699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16" id="16"/>
          <p:cNvSpPr txBox="true"/>
          <p:nvPr/>
        </p:nvSpPr>
        <p:spPr>
          <a:xfrm rot="0">
            <a:off x="1085766" y="1431604"/>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Pembahasan</a:t>
            </a:r>
          </a:p>
        </p:txBody>
      </p:sp>
      <p:sp>
        <p:nvSpPr>
          <p:cNvPr name="TextBox 17" id="17"/>
          <p:cNvSpPr txBox="true"/>
          <p:nvPr/>
        </p:nvSpPr>
        <p:spPr>
          <a:xfrm rot="0">
            <a:off x="1484377" y="3254755"/>
            <a:ext cx="7659623" cy="6186170"/>
          </a:xfrm>
          <a:prstGeom prst="rect">
            <a:avLst/>
          </a:prstGeom>
        </p:spPr>
        <p:txBody>
          <a:bodyPr anchor="t" rtlCol="false" tIns="0" lIns="0" bIns="0" rIns="0">
            <a:spAutoFit/>
          </a:bodyPr>
          <a:lstStyle/>
          <a:p>
            <a:pPr algn="just">
              <a:lnSpc>
                <a:spcPts val="4480"/>
              </a:lnSpc>
            </a:pPr>
            <a:r>
              <a:rPr lang="en-US" sz="3200">
                <a:solidFill>
                  <a:srgbClr val="000000"/>
                </a:solidFill>
                <a:latin typeface="Arimo"/>
                <a:ea typeface="Arimo"/>
                <a:cs typeface="Arimo"/>
                <a:sym typeface="Arimo"/>
              </a:rPr>
              <a:t>Hasil penelitian menunjukkan bahwa meskipun Random Forest berhasil dijalankan, performanya masih belum optimal. Salah satu penyebabnya adalah fitur yang digunakan belum cukup mampu menggambarkan perbedaan antara aktivitas login normal dan mencurigakan. Selain itu, proses feature engineering yang masih sederhana menyebabkan model belum dapat mengenali pola yang lebih kompleks.</a:t>
            </a:r>
          </a:p>
        </p:txBody>
      </p:sp>
      <p:sp>
        <p:nvSpPr>
          <p:cNvPr name="Freeform 18" id="18"/>
          <p:cNvSpPr/>
          <p:nvPr/>
        </p:nvSpPr>
        <p:spPr>
          <a:xfrm flipH="false" flipV="false" rot="0">
            <a:off x="15723998" y="9708765"/>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9" id="19"/>
          <p:cNvSpPr/>
          <p:nvPr/>
        </p:nvSpPr>
        <p:spPr>
          <a:xfrm flipH="false" flipV="false" rot="0">
            <a:off x="-743034" y="-1389251"/>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7585935">
            <a:off x="9240661" y="-2897197"/>
            <a:ext cx="4889020" cy="5794395"/>
          </a:xfrm>
          <a:custGeom>
            <a:avLst/>
            <a:gdLst/>
            <a:ahLst/>
            <a:cxnLst/>
            <a:rect r="r" b="b" t="t" l="l"/>
            <a:pathLst>
              <a:path h="5794395" w="4889020">
                <a:moveTo>
                  <a:pt x="0" y="0"/>
                </a:moveTo>
                <a:lnTo>
                  <a:pt x="4889020" y="0"/>
                </a:lnTo>
                <a:lnTo>
                  <a:pt x="4889020" y="5794394"/>
                </a:lnTo>
                <a:lnTo>
                  <a:pt x="0" y="5794394"/>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965431">
            <a:off x="1613829" y="6005438"/>
            <a:ext cx="4889020" cy="5794395"/>
          </a:xfrm>
          <a:custGeom>
            <a:avLst/>
            <a:gdLst/>
            <a:ahLst/>
            <a:cxnLst/>
            <a:rect r="r" b="b" t="t" l="l"/>
            <a:pathLst>
              <a:path h="5794395" w="4889020">
                <a:moveTo>
                  <a:pt x="0" y="0"/>
                </a:moveTo>
                <a:lnTo>
                  <a:pt x="4889021" y="0"/>
                </a:lnTo>
                <a:lnTo>
                  <a:pt x="4889021" y="5794394"/>
                </a:lnTo>
                <a:lnTo>
                  <a:pt x="0" y="5794394"/>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266129" y="4242163"/>
            <a:ext cx="16286670" cy="4660472"/>
            <a:chOff x="0" y="0"/>
            <a:chExt cx="3838373" cy="1098367"/>
          </a:xfrm>
        </p:grpSpPr>
        <p:sp>
          <p:nvSpPr>
            <p:cNvPr name="Freeform 6" id="6"/>
            <p:cNvSpPr/>
            <p:nvPr/>
          </p:nvSpPr>
          <p:spPr>
            <a:xfrm flipH="false" flipV="false" rot="0">
              <a:off x="0" y="0"/>
              <a:ext cx="3838373" cy="1098367"/>
            </a:xfrm>
            <a:custGeom>
              <a:avLst/>
              <a:gdLst/>
              <a:ahLst/>
              <a:cxnLst/>
              <a:rect r="r" b="b" t="t" l="l"/>
              <a:pathLst>
                <a:path h="1098367" w="3838373">
                  <a:moveTo>
                    <a:pt x="3838373" y="0"/>
                  </a:moveTo>
                  <a:lnTo>
                    <a:pt x="3838373" y="1098367"/>
                  </a:lnTo>
                  <a:lnTo>
                    <a:pt x="0" y="1098367"/>
                  </a:lnTo>
                  <a:lnTo>
                    <a:pt x="0" y="0"/>
                  </a:lnTo>
                  <a:close/>
                </a:path>
              </a:pathLst>
            </a:custGeom>
            <a:solidFill>
              <a:srgbClr val="7B5EA8"/>
            </a:solidFill>
          </p:spPr>
        </p:sp>
        <p:sp>
          <p:nvSpPr>
            <p:cNvPr name="TextBox 7" id="7"/>
            <p:cNvSpPr txBox="true"/>
            <p:nvPr/>
          </p:nvSpPr>
          <p:spPr>
            <a:xfrm>
              <a:off x="0" y="-47625"/>
              <a:ext cx="3838373" cy="114599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266129" y="4242163"/>
            <a:ext cx="15993171" cy="4216700"/>
            <a:chOff x="0" y="0"/>
            <a:chExt cx="3769202" cy="993780"/>
          </a:xfrm>
        </p:grpSpPr>
        <p:sp>
          <p:nvSpPr>
            <p:cNvPr name="Freeform 9" id="9"/>
            <p:cNvSpPr/>
            <p:nvPr/>
          </p:nvSpPr>
          <p:spPr>
            <a:xfrm flipH="false" flipV="false" rot="0">
              <a:off x="0" y="0"/>
              <a:ext cx="3769202" cy="993780"/>
            </a:xfrm>
            <a:custGeom>
              <a:avLst/>
              <a:gdLst/>
              <a:ahLst/>
              <a:cxnLst/>
              <a:rect r="r" b="b" t="t" l="l"/>
              <a:pathLst>
                <a:path h="993780" w="3769202">
                  <a:moveTo>
                    <a:pt x="3769202" y="0"/>
                  </a:moveTo>
                  <a:lnTo>
                    <a:pt x="3769202" y="993780"/>
                  </a:lnTo>
                  <a:lnTo>
                    <a:pt x="0" y="993780"/>
                  </a:lnTo>
                  <a:lnTo>
                    <a:pt x="0" y="0"/>
                  </a:lnTo>
                  <a:close/>
                </a:path>
              </a:pathLst>
            </a:custGeom>
            <a:solidFill>
              <a:srgbClr val="D8E264"/>
            </a:solidFill>
          </p:spPr>
        </p:sp>
        <p:sp>
          <p:nvSpPr>
            <p:cNvPr name="TextBox 10" id="10"/>
            <p:cNvSpPr txBox="true"/>
            <p:nvPr/>
          </p:nvSpPr>
          <p:spPr>
            <a:xfrm>
              <a:off x="0" y="-47625"/>
              <a:ext cx="3769202" cy="1041405"/>
            </a:xfrm>
            <a:prstGeom prst="rect">
              <a:avLst/>
            </a:prstGeom>
          </p:spPr>
          <p:txBody>
            <a:bodyPr anchor="ctr" rtlCol="false" tIns="50800" lIns="50800" bIns="50800" rIns="50800"/>
            <a:lstStyle/>
            <a:p>
              <a:pPr algn="ctr">
                <a:lnSpc>
                  <a:spcPts val="2659"/>
                </a:lnSpc>
              </a:pPr>
            </a:p>
          </p:txBody>
        </p:sp>
      </p:grpSp>
      <p:sp>
        <p:nvSpPr>
          <p:cNvPr name="AutoShape 11" id="11"/>
          <p:cNvSpPr/>
          <p:nvPr/>
        </p:nvSpPr>
        <p:spPr>
          <a:xfrm>
            <a:off x="1000209" y="3355996"/>
            <a:ext cx="8749784" cy="0"/>
          </a:xfrm>
          <a:prstGeom prst="line">
            <a:avLst/>
          </a:prstGeom>
          <a:ln cap="flat" w="38100">
            <a:solidFill>
              <a:srgbClr val="000000"/>
            </a:solidFill>
            <a:prstDash val="solid"/>
            <a:headEnd type="none" len="sm" w="sm"/>
            <a:tailEnd type="none" len="sm" w="sm"/>
          </a:ln>
        </p:spPr>
      </p:sp>
      <p:sp>
        <p:nvSpPr>
          <p:cNvPr name="Freeform 12" id="12"/>
          <p:cNvSpPr/>
          <p:nvPr/>
        </p:nvSpPr>
        <p:spPr>
          <a:xfrm flipH="false" flipV="false" rot="0">
            <a:off x="16140238" y="634169"/>
            <a:ext cx="1763267" cy="789062"/>
          </a:xfrm>
          <a:custGeom>
            <a:avLst/>
            <a:gdLst/>
            <a:ahLst/>
            <a:cxnLst/>
            <a:rect r="r" b="b" t="t" l="l"/>
            <a:pathLst>
              <a:path h="789062" w="1763267">
                <a:moveTo>
                  <a:pt x="0" y="0"/>
                </a:moveTo>
                <a:lnTo>
                  <a:pt x="1763267" y="0"/>
                </a:lnTo>
                <a:lnTo>
                  <a:pt x="1763267" y="789062"/>
                </a:lnTo>
                <a:lnTo>
                  <a:pt x="0" y="78906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11064389" y="9165268"/>
            <a:ext cx="1276939" cy="1086994"/>
          </a:xfrm>
          <a:custGeom>
            <a:avLst/>
            <a:gdLst/>
            <a:ahLst/>
            <a:cxnLst/>
            <a:rect r="r" b="b" t="t" l="l"/>
            <a:pathLst>
              <a:path h="1086994" w="1276939">
                <a:moveTo>
                  <a:pt x="0" y="0"/>
                </a:moveTo>
                <a:lnTo>
                  <a:pt x="1276938" y="0"/>
                </a:lnTo>
                <a:lnTo>
                  <a:pt x="1276938" y="1086994"/>
                </a:lnTo>
                <a:lnTo>
                  <a:pt x="0" y="108699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690111" y="2077816"/>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Kesimpulan</a:t>
            </a:r>
          </a:p>
        </p:txBody>
      </p:sp>
      <p:sp>
        <p:nvSpPr>
          <p:cNvPr name="TextBox 15" id="15"/>
          <p:cNvSpPr txBox="true"/>
          <p:nvPr/>
        </p:nvSpPr>
        <p:spPr>
          <a:xfrm rot="0">
            <a:off x="1460440" y="4619503"/>
            <a:ext cx="15367120" cy="3376295"/>
          </a:xfrm>
          <a:prstGeom prst="rect">
            <a:avLst/>
          </a:prstGeom>
        </p:spPr>
        <p:txBody>
          <a:bodyPr anchor="t" rtlCol="false" tIns="0" lIns="0" bIns="0" rIns="0">
            <a:spAutoFit/>
          </a:bodyPr>
          <a:lstStyle/>
          <a:p>
            <a:pPr algn="just">
              <a:lnSpc>
                <a:spcPts val="4480"/>
              </a:lnSpc>
            </a:pPr>
            <a:r>
              <a:rPr lang="en-US" sz="3200">
                <a:solidFill>
                  <a:srgbClr val="000000"/>
                </a:solidFill>
                <a:latin typeface="Arimo"/>
                <a:ea typeface="Arimo"/>
                <a:cs typeface="Arimo"/>
                <a:sym typeface="Arimo"/>
              </a:rPr>
              <a:t>Penelitian ini berhasil menerapkan algoritma Random Forest untuk mengklasifikasikan aktivitas login pengguna. Berdasarkan hasil analisis, faktor yang paling berpengaruh terhadap proses klasifikasi adalah lokasi login, waktu login, dan jumlah percobaan login. Namun, nilai akurasi yang masih berada di bawah 50% menunjukkan bahwa model masih memerlukan pengembangan agar dapat digunakan secara optimal dalam mendeteksi aktivitas login mencurigakan.</a:t>
            </a:r>
          </a:p>
        </p:txBody>
      </p:sp>
      <p:sp>
        <p:nvSpPr>
          <p:cNvPr name="Freeform 16" id="16"/>
          <p:cNvSpPr/>
          <p:nvPr/>
        </p:nvSpPr>
        <p:spPr>
          <a:xfrm flipH="false" flipV="false" rot="0">
            <a:off x="15723998" y="9708765"/>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7" id="17"/>
          <p:cNvSpPr/>
          <p:nvPr/>
        </p:nvSpPr>
        <p:spPr>
          <a:xfrm flipH="false" flipV="false" rot="0">
            <a:off x="-743034" y="-1389251"/>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8945344">
            <a:off x="-3035677" y="-682046"/>
            <a:ext cx="6708807" cy="3421492"/>
          </a:xfrm>
          <a:custGeom>
            <a:avLst/>
            <a:gdLst/>
            <a:ahLst/>
            <a:cxnLst/>
            <a:rect r="r" b="b" t="t" l="l"/>
            <a:pathLst>
              <a:path h="3421492" w="6708807">
                <a:moveTo>
                  <a:pt x="0" y="0"/>
                </a:moveTo>
                <a:lnTo>
                  <a:pt x="6708807" y="0"/>
                </a:lnTo>
                <a:lnTo>
                  <a:pt x="6708807" y="3421492"/>
                </a:lnTo>
                <a:lnTo>
                  <a:pt x="0" y="3421492"/>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20999"/>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311966" y="2648886"/>
            <a:ext cx="4651562" cy="2942465"/>
            <a:chOff x="0" y="0"/>
            <a:chExt cx="1108979" cy="701518"/>
          </a:xfrm>
        </p:grpSpPr>
        <p:sp>
          <p:nvSpPr>
            <p:cNvPr name="Freeform 5" id="5"/>
            <p:cNvSpPr/>
            <p:nvPr/>
          </p:nvSpPr>
          <p:spPr>
            <a:xfrm flipH="false" flipV="false" rot="0">
              <a:off x="0" y="0"/>
              <a:ext cx="1108979" cy="701518"/>
            </a:xfrm>
            <a:custGeom>
              <a:avLst/>
              <a:gdLst/>
              <a:ahLst/>
              <a:cxnLst/>
              <a:rect r="r" b="b" t="t" l="l"/>
              <a:pathLst>
                <a:path h="701518" w="1108979">
                  <a:moveTo>
                    <a:pt x="1108979" y="0"/>
                  </a:moveTo>
                  <a:lnTo>
                    <a:pt x="1108979" y="701518"/>
                  </a:lnTo>
                  <a:lnTo>
                    <a:pt x="0" y="701518"/>
                  </a:lnTo>
                  <a:lnTo>
                    <a:pt x="0" y="0"/>
                  </a:lnTo>
                  <a:close/>
                </a:path>
              </a:pathLst>
            </a:custGeom>
            <a:solidFill>
              <a:srgbClr val="7B5EA8"/>
            </a:solidFill>
          </p:spPr>
        </p:sp>
        <p:sp>
          <p:nvSpPr>
            <p:cNvPr name="TextBox 6" id="6"/>
            <p:cNvSpPr txBox="true"/>
            <p:nvPr/>
          </p:nvSpPr>
          <p:spPr>
            <a:xfrm>
              <a:off x="0" y="-47625"/>
              <a:ext cx="1108979" cy="74914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1085206" y="2648886"/>
            <a:ext cx="4657592" cy="2793409"/>
            <a:chOff x="0" y="0"/>
            <a:chExt cx="1176275" cy="705480"/>
          </a:xfrm>
        </p:grpSpPr>
        <p:sp>
          <p:nvSpPr>
            <p:cNvPr name="Freeform 8" id="8"/>
            <p:cNvSpPr/>
            <p:nvPr/>
          </p:nvSpPr>
          <p:spPr>
            <a:xfrm flipH="false" flipV="false" rot="0">
              <a:off x="0" y="0"/>
              <a:ext cx="1176275" cy="705480"/>
            </a:xfrm>
            <a:custGeom>
              <a:avLst/>
              <a:gdLst/>
              <a:ahLst/>
              <a:cxnLst/>
              <a:rect r="r" b="b" t="t" l="l"/>
              <a:pathLst>
                <a:path h="705480" w="1176275">
                  <a:moveTo>
                    <a:pt x="1176275" y="0"/>
                  </a:moveTo>
                  <a:lnTo>
                    <a:pt x="1176275" y="705480"/>
                  </a:lnTo>
                  <a:lnTo>
                    <a:pt x="0" y="705480"/>
                  </a:lnTo>
                  <a:lnTo>
                    <a:pt x="0" y="0"/>
                  </a:lnTo>
                  <a:close/>
                </a:path>
              </a:pathLst>
            </a:custGeom>
            <a:solidFill>
              <a:srgbClr val="D8E264"/>
            </a:solidFill>
          </p:spPr>
        </p:sp>
        <p:sp>
          <p:nvSpPr>
            <p:cNvPr name="TextBox 9" id="9"/>
            <p:cNvSpPr txBox="true"/>
            <p:nvPr/>
          </p:nvSpPr>
          <p:spPr>
            <a:xfrm>
              <a:off x="0" y="-47625"/>
              <a:ext cx="1176275" cy="753105"/>
            </a:xfrm>
            <a:prstGeom prst="rect">
              <a:avLst/>
            </a:prstGeom>
          </p:spPr>
          <p:txBody>
            <a:bodyPr anchor="ctr" rtlCol="false" tIns="50800" lIns="50800" bIns="50800" rIns="50800"/>
            <a:lstStyle/>
            <a:p>
              <a:pPr algn="ctr">
                <a:lnSpc>
                  <a:spcPts val="2659"/>
                </a:lnSpc>
              </a:pPr>
            </a:p>
          </p:txBody>
        </p:sp>
      </p:grpSp>
      <p:sp>
        <p:nvSpPr>
          <p:cNvPr name="AutoShape 10" id="10"/>
          <p:cNvSpPr/>
          <p:nvPr/>
        </p:nvSpPr>
        <p:spPr>
          <a:xfrm>
            <a:off x="4769108" y="2243965"/>
            <a:ext cx="8749784" cy="0"/>
          </a:xfrm>
          <a:prstGeom prst="line">
            <a:avLst/>
          </a:prstGeom>
          <a:ln cap="flat" w="38100">
            <a:solidFill>
              <a:srgbClr val="000000"/>
            </a:solidFill>
            <a:prstDash val="solid"/>
            <a:headEnd type="none" len="sm" w="sm"/>
            <a:tailEnd type="none" len="sm" w="sm"/>
          </a:ln>
        </p:spPr>
      </p:sp>
      <p:sp>
        <p:nvSpPr>
          <p:cNvPr name="Freeform 11" id="11"/>
          <p:cNvSpPr/>
          <p:nvPr/>
        </p:nvSpPr>
        <p:spPr>
          <a:xfrm flipH="false" flipV="false" rot="0">
            <a:off x="15125646" y="-1446206"/>
            <a:ext cx="3657600" cy="2001705"/>
          </a:xfrm>
          <a:custGeom>
            <a:avLst/>
            <a:gdLst/>
            <a:ahLst/>
            <a:cxnLst/>
            <a:rect r="r" b="b" t="t" l="l"/>
            <a:pathLst>
              <a:path h="2001705" w="3657600">
                <a:moveTo>
                  <a:pt x="0" y="0"/>
                </a:moveTo>
                <a:lnTo>
                  <a:pt x="3657600" y="0"/>
                </a:lnTo>
                <a:lnTo>
                  <a:pt x="3657600" y="2001704"/>
                </a:lnTo>
                <a:lnTo>
                  <a:pt x="0" y="20017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0">
            <a:off x="2457477" y="545697"/>
            <a:ext cx="1410309" cy="726309"/>
          </a:xfrm>
          <a:custGeom>
            <a:avLst/>
            <a:gdLst/>
            <a:ahLst/>
            <a:cxnLst/>
            <a:rect r="r" b="b" t="t" l="l"/>
            <a:pathLst>
              <a:path h="726309" w="1410309">
                <a:moveTo>
                  <a:pt x="0" y="0"/>
                </a:moveTo>
                <a:lnTo>
                  <a:pt x="1410309" y="0"/>
                </a:lnTo>
                <a:lnTo>
                  <a:pt x="1410309" y="726309"/>
                </a:lnTo>
                <a:lnTo>
                  <a:pt x="0" y="7263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3" id="13"/>
          <p:cNvGrpSpPr/>
          <p:nvPr/>
        </p:nvGrpSpPr>
        <p:grpSpPr>
          <a:xfrm rot="0">
            <a:off x="6704348" y="2985511"/>
            <a:ext cx="4759218" cy="1894581"/>
            <a:chOff x="0" y="0"/>
            <a:chExt cx="1483350" cy="590506"/>
          </a:xfrm>
        </p:grpSpPr>
        <p:sp>
          <p:nvSpPr>
            <p:cNvPr name="Freeform 14" id="14"/>
            <p:cNvSpPr/>
            <p:nvPr/>
          </p:nvSpPr>
          <p:spPr>
            <a:xfrm flipH="false" flipV="false" rot="0">
              <a:off x="0" y="0"/>
              <a:ext cx="1483350" cy="590506"/>
            </a:xfrm>
            <a:custGeom>
              <a:avLst/>
              <a:gdLst/>
              <a:ahLst/>
              <a:cxnLst/>
              <a:rect r="r" b="b" t="t" l="l"/>
              <a:pathLst>
                <a:path h="590506" w="1483350">
                  <a:moveTo>
                    <a:pt x="1483350" y="0"/>
                  </a:moveTo>
                  <a:lnTo>
                    <a:pt x="1483350" y="590506"/>
                  </a:lnTo>
                  <a:lnTo>
                    <a:pt x="0" y="590506"/>
                  </a:lnTo>
                  <a:lnTo>
                    <a:pt x="0" y="0"/>
                  </a:lnTo>
                  <a:close/>
                </a:path>
              </a:pathLst>
            </a:custGeom>
            <a:solidFill>
              <a:srgbClr val="7B5EA8"/>
            </a:solidFill>
          </p:spPr>
        </p:sp>
        <p:sp>
          <p:nvSpPr>
            <p:cNvPr name="TextBox 15" id="15"/>
            <p:cNvSpPr txBox="true"/>
            <p:nvPr/>
          </p:nvSpPr>
          <p:spPr>
            <a:xfrm>
              <a:off x="0" y="-47625"/>
              <a:ext cx="1483350" cy="63813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6485499" y="2985511"/>
            <a:ext cx="4786574" cy="1729637"/>
            <a:chOff x="0" y="0"/>
            <a:chExt cx="1491877" cy="539096"/>
          </a:xfrm>
        </p:grpSpPr>
        <p:sp>
          <p:nvSpPr>
            <p:cNvPr name="Freeform 17" id="17"/>
            <p:cNvSpPr/>
            <p:nvPr/>
          </p:nvSpPr>
          <p:spPr>
            <a:xfrm flipH="false" flipV="false" rot="0">
              <a:off x="0" y="0"/>
              <a:ext cx="1491877" cy="539096"/>
            </a:xfrm>
            <a:custGeom>
              <a:avLst/>
              <a:gdLst/>
              <a:ahLst/>
              <a:cxnLst/>
              <a:rect r="r" b="b" t="t" l="l"/>
              <a:pathLst>
                <a:path h="539096" w="1491877">
                  <a:moveTo>
                    <a:pt x="1491877" y="0"/>
                  </a:moveTo>
                  <a:lnTo>
                    <a:pt x="1491877" y="539096"/>
                  </a:lnTo>
                  <a:lnTo>
                    <a:pt x="0" y="539096"/>
                  </a:lnTo>
                  <a:lnTo>
                    <a:pt x="0" y="0"/>
                  </a:lnTo>
                  <a:close/>
                </a:path>
              </a:pathLst>
            </a:custGeom>
            <a:solidFill>
              <a:srgbClr val="D8E264"/>
            </a:solidFill>
          </p:spPr>
        </p:sp>
        <p:sp>
          <p:nvSpPr>
            <p:cNvPr name="TextBox 18" id="18"/>
            <p:cNvSpPr txBox="true"/>
            <p:nvPr/>
          </p:nvSpPr>
          <p:spPr>
            <a:xfrm>
              <a:off x="0" y="-47625"/>
              <a:ext cx="1491877" cy="58672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1987441" y="3135486"/>
            <a:ext cx="5271859" cy="1579662"/>
            <a:chOff x="0" y="0"/>
            <a:chExt cx="1643130" cy="492351"/>
          </a:xfrm>
        </p:grpSpPr>
        <p:sp>
          <p:nvSpPr>
            <p:cNvPr name="Freeform 20" id="20"/>
            <p:cNvSpPr/>
            <p:nvPr/>
          </p:nvSpPr>
          <p:spPr>
            <a:xfrm flipH="false" flipV="false" rot="0">
              <a:off x="0" y="0"/>
              <a:ext cx="1643130" cy="492351"/>
            </a:xfrm>
            <a:custGeom>
              <a:avLst/>
              <a:gdLst/>
              <a:ahLst/>
              <a:cxnLst/>
              <a:rect r="r" b="b" t="t" l="l"/>
              <a:pathLst>
                <a:path h="492351" w="1643130">
                  <a:moveTo>
                    <a:pt x="1643130" y="0"/>
                  </a:moveTo>
                  <a:lnTo>
                    <a:pt x="1643130" y="492351"/>
                  </a:lnTo>
                  <a:lnTo>
                    <a:pt x="0" y="492351"/>
                  </a:lnTo>
                  <a:lnTo>
                    <a:pt x="0" y="0"/>
                  </a:lnTo>
                  <a:close/>
                </a:path>
              </a:pathLst>
            </a:custGeom>
            <a:solidFill>
              <a:srgbClr val="7B5EA8"/>
            </a:solidFill>
          </p:spPr>
        </p:sp>
        <p:sp>
          <p:nvSpPr>
            <p:cNvPr name="TextBox 21" id="21"/>
            <p:cNvSpPr txBox="true"/>
            <p:nvPr/>
          </p:nvSpPr>
          <p:spPr>
            <a:xfrm>
              <a:off x="0" y="-47625"/>
              <a:ext cx="1643130" cy="539976"/>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1869434" y="3135486"/>
            <a:ext cx="5085012" cy="1411703"/>
            <a:chOff x="0" y="0"/>
            <a:chExt cx="1584894" cy="440002"/>
          </a:xfrm>
        </p:grpSpPr>
        <p:sp>
          <p:nvSpPr>
            <p:cNvPr name="Freeform 23" id="23"/>
            <p:cNvSpPr/>
            <p:nvPr/>
          </p:nvSpPr>
          <p:spPr>
            <a:xfrm flipH="false" flipV="false" rot="0">
              <a:off x="0" y="0"/>
              <a:ext cx="1584894" cy="440002"/>
            </a:xfrm>
            <a:custGeom>
              <a:avLst/>
              <a:gdLst/>
              <a:ahLst/>
              <a:cxnLst/>
              <a:rect r="r" b="b" t="t" l="l"/>
              <a:pathLst>
                <a:path h="440002" w="1584894">
                  <a:moveTo>
                    <a:pt x="1584894" y="0"/>
                  </a:moveTo>
                  <a:lnTo>
                    <a:pt x="1584894" y="440002"/>
                  </a:lnTo>
                  <a:lnTo>
                    <a:pt x="0" y="440002"/>
                  </a:lnTo>
                  <a:lnTo>
                    <a:pt x="0" y="0"/>
                  </a:lnTo>
                  <a:close/>
                </a:path>
              </a:pathLst>
            </a:custGeom>
            <a:solidFill>
              <a:srgbClr val="D8E264"/>
            </a:solidFill>
          </p:spPr>
        </p:sp>
        <p:sp>
          <p:nvSpPr>
            <p:cNvPr name="TextBox 24" id="24"/>
            <p:cNvSpPr txBox="true"/>
            <p:nvPr/>
          </p:nvSpPr>
          <p:spPr>
            <a:xfrm>
              <a:off x="0" y="-47625"/>
              <a:ext cx="1584894" cy="487627"/>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968513" y="6000785"/>
            <a:ext cx="14689493" cy="2193116"/>
            <a:chOff x="0" y="0"/>
            <a:chExt cx="4578413" cy="683553"/>
          </a:xfrm>
        </p:grpSpPr>
        <p:sp>
          <p:nvSpPr>
            <p:cNvPr name="Freeform 26" id="26"/>
            <p:cNvSpPr/>
            <p:nvPr/>
          </p:nvSpPr>
          <p:spPr>
            <a:xfrm flipH="false" flipV="false" rot="0">
              <a:off x="0" y="0"/>
              <a:ext cx="4578413" cy="683553"/>
            </a:xfrm>
            <a:custGeom>
              <a:avLst/>
              <a:gdLst/>
              <a:ahLst/>
              <a:cxnLst/>
              <a:rect r="r" b="b" t="t" l="l"/>
              <a:pathLst>
                <a:path h="683553" w="4578413">
                  <a:moveTo>
                    <a:pt x="4578413" y="0"/>
                  </a:moveTo>
                  <a:lnTo>
                    <a:pt x="4578413" y="683553"/>
                  </a:lnTo>
                  <a:lnTo>
                    <a:pt x="0" y="683553"/>
                  </a:lnTo>
                  <a:lnTo>
                    <a:pt x="0" y="0"/>
                  </a:lnTo>
                  <a:close/>
                </a:path>
              </a:pathLst>
            </a:custGeom>
            <a:solidFill>
              <a:srgbClr val="7B5EA8"/>
            </a:solidFill>
          </p:spPr>
        </p:sp>
        <p:sp>
          <p:nvSpPr>
            <p:cNvPr name="TextBox 27" id="27"/>
            <p:cNvSpPr txBox="true"/>
            <p:nvPr/>
          </p:nvSpPr>
          <p:spPr>
            <a:xfrm>
              <a:off x="0" y="-47625"/>
              <a:ext cx="4578413" cy="731178"/>
            </a:xfrm>
            <a:prstGeom prst="rect">
              <a:avLst/>
            </a:prstGeom>
          </p:spPr>
          <p:txBody>
            <a:bodyPr anchor="ctr" rtlCol="false" tIns="50800" lIns="50800" bIns="50800" rIns="50800"/>
            <a:lstStyle/>
            <a:p>
              <a:pPr algn="ctr">
                <a:lnSpc>
                  <a:spcPts val="2659"/>
                </a:lnSpc>
              </a:pPr>
            </a:p>
          </p:txBody>
        </p:sp>
      </p:grpSp>
      <p:sp>
        <p:nvSpPr>
          <p:cNvPr name="TextBox 28" id="28"/>
          <p:cNvSpPr txBox="true"/>
          <p:nvPr/>
        </p:nvSpPr>
        <p:spPr>
          <a:xfrm rot="0">
            <a:off x="4826174" y="1084990"/>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Saran</a:t>
            </a:r>
          </a:p>
        </p:txBody>
      </p:sp>
      <p:sp>
        <p:nvSpPr>
          <p:cNvPr name="TextBox 29" id="29"/>
          <p:cNvSpPr txBox="true"/>
          <p:nvPr/>
        </p:nvSpPr>
        <p:spPr>
          <a:xfrm rot="0">
            <a:off x="1311966" y="3068811"/>
            <a:ext cx="4214745" cy="2035941"/>
          </a:xfrm>
          <a:prstGeom prst="rect">
            <a:avLst/>
          </a:prstGeom>
        </p:spPr>
        <p:txBody>
          <a:bodyPr anchor="t" rtlCol="false" tIns="0" lIns="0" bIns="0" rIns="0">
            <a:spAutoFit/>
          </a:bodyPr>
          <a:lstStyle/>
          <a:p>
            <a:pPr algn="ctr">
              <a:lnSpc>
                <a:spcPts val="4071"/>
              </a:lnSpc>
            </a:pPr>
            <a:r>
              <a:rPr lang="en-US" sz="2908">
                <a:solidFill>
                  <a:srgbClr val="000000"/>
                </a:solidFill>
                <a:latin typeface="Arimo"/>
                <a:ea typeface="Arimo"/>
                <a:cs typeface="Arimo"/>
                <a:sym typeface="Arimo"/>
              </a:rPr>
              <a:t>Menambah atribut data</a:t>
            </a:r>
          </a:p>
          <a:p>
            <a:pPr algn="l" marL="627949" indent="-313975" lvl="1">
              <a:lnSpc>
                <a:spcPts val="4071"/>
              </a:lnSpc>
              <a:buAutoNum type="arabicPeriod" startAt="1"/>
            </a:pPr>
            <a:r>
              <a:rPr lang="en-US" sz="2908">
                <a:solidFill>
                  <a:srgbClr val="000000"/>
                </a:solidFill>
                <a:latin typeface="Arimo"/>
                <a:ea typeface="Arimo"/>
                <a:cs typeface="Arimo"/>
                <a:sym typeface="Arimo"/>
              </a:rPr>
              <a:t> </a:t>
            </a:r>
            <a:r>
              <a:rPr lang="en-US" sz="2908">
                <a:solidFill>
                  <a:srgbClr val="000000"/>
                </a:solidFill>
                <a:latin typeface="Arimo"/>
                <a:ea typeface="Arimo"/>
                <a:cs typeface="Arimo"/>
                <a:sym typeface="Arimo"/>
              </a:rPr>
              <a:t>I</a:t>
            </a:r>
            <a:r>
              <a:rPr lang="en-US" sz="2908">
                <a:solidFill>
                  <a:srgbClr val="000000"/>
                </a:solidFill>
                <a:latin typeface="Arimo"/>
                <a:ea typeface="Arimo"/>
                <a:cs typeface="Arimo"/>
                <a:sym typeface="Arimo"/>
              </a:rPr>
              <a:t>P lebih spesifik</a:t>
            </a:r>
          </a:p>
          <a:p>
            <a:pPr algn="l" marL="627949" indent="-313975" lvl="1">
              <a:lnSpc>
                <a:spcPts val="4071"/>
              </a:lnSpc>
              <a:buAutoNum type="arabicPeriod" startAt="1"/>
            </a:pPr>
            <a:r>
              <a:rPr lang="en-US" sz="2908">
                <a:solidFill>
                  <a:srgbClr val="000000"/>
                </a:solidFill>
                <a:latin typeface="Arimo"/>
                <a:ea typeface="Arimo"/>
                <a:cs typeface="Arimo"/>
                <a:sym typeface="Arimo"/>
              </a:rPr>
              <a:t> </a:t>
            </a:r>
            <a:r>
              <a:rPr lang="en-US" sz="2908">
                <a:solidFill>
                  <a:srgbClr val="000000"/>
                </a:solidFill>
                <a:latin typeface="Arimo"/>
                <a:ea typeface="Arimo"/>
                <a:cs typeface="Arimo"/>
                <a:sym typeface="Arimo"/>
              </a:rPr>
              <a:t>Keystroke Dynamics</a:t>
            </a:r>
          </a:p>
          <a:p>
            <a:pPr algn="ctr">
              <a:lnSpc>
                <a:spcPts val="4071"/>
              </a:lnSpc>
            </a:pPr>
          </a:p>
        </p:txBody>
      </p:sp>
      <p:sp>
        <p:nvSpPr>
          <p:cNvPr name="TextBox 30" id="30"/>
          <p:cNvSpPr txBox="true"/>
          <p:nvPr/>
        </p:nvSpPr>
        <p:spPr>
          <a:xfrm rot="0">
            <a:off x="6853482" y="3542006"/>
            <a:ext cx="4050608" cy="503584"/>
          </a:xfrm>
          <a:prstGeom prst="rect">
            <a:avLst/>
          </a:prstGeom>
        </p:spPr>
        <p:txBody>
          <a:bodyPr anchor="t" rtlCol="false" tIns="0" lIns="0" bIns="0" rIns="0">
            <a:spAutoFit/>
          </a:bodyPr>
          <a:lstStyle/>
          <a:p>
            <a:pPr algn="ctr">
              <a:lnSpc>
                <a:spcPts val="4071"/>
              </a:lnSpc>
            </a:pPr>
            <a:r>
              <a:rPr lang="en-US" sz="2908">
                <a:solidFill>
                  <a:srgbClr val="000000"/>
                </a:solidFill>
                <a:latin typeface="Arimo"/>
                <a:ea typeface="Arimo"/>
                <a:cs typeface="Arimo"/>
                <a:sym typeface="Arimo"/>
              </a:rPr>
              <a:t>Hyperparameter Tuning</a:t>
            </a:r>
          </a:p>
        </p:txBody>
      </p:sp>
      <p:sp>
        <p:nvSpPr>
          <p:cNvPr name="TextBox 31" id="31"/>
          <p:cNvSpPr txBox="true"/>
          <p:nvPr/>
        </p:nvSpPr>
        <p:spPr>
          <a:xfrm rot="0">
            <a:off x="12206516" y="3384794"/>
            <a:ext cx="4050608" cy="1014370"/>
          </a:xfrm>
          <a:prstGeom prst="rect">
            <a:avLst/>
          </a:prstGeom>
        </p:spPr>
        <p:txBody>
          <a:bodyPr anchor="t" rtlCol="false" tIns="0" lIns="0" bIns="0" rIns="0">
            <a:spAutoFit/>
          </a:bodyPr>
          <a:lstStyle/>
          <a:p>
            <a:pPr algn="ctr">
              <a:lnSpc>
                <a:spcPts val="4071"/>
              </a:lnSpc>
            </a:pPr>
            <a:r>
              <a:rPr lang="en-US" sz="2908">
                <a:solidFill>
                  <a:srgbClr val="000000"/>
                </a:solidFill>
                <a:latin typeface="Arimo"/>
                <a:ea typeface="Arimo"/>
                <a:cs typeface="Arimo"/>
                <a:sym typeface="Arimo"/>
              </a:rPr>
              <a:t>Implementasi Real-Time API</a:t>
            </a:r>
          </a:p>
        </p:txBody>
      </p:sp>
      <p:sp>
        <p:nvSpPr>
          <p:cNvPr name="TextBox 32" id="32"/>
          <p:cNvSpPr txBox="true"/>
          <p:nvPr/>
        </p:nvSpPr>
        <p:spPr>
          <a:xfrm rot="0">
            <a:off x="3162632" y="6477176"/>
            <a:ext cx="12913994" cy="1525155"/>
          </a:xfrm>
          <a:prstGeom prst="rect">
            <a:avLst/>
          </a:prstGeom>
        </p:spPr>
        <p:txBody>
          <a:bodyPr anchor="t" rtlCol="false" tIns="0" lIns="0" bIns="0" rIns="0">
            <a:spAutoFit/>
          </a:bodyPr>
          <a:lstStyle/>
          <a:p>
            <a:pPr algn="ctr">
              <a:lnSpc>
                <a:spcPts val="4071"/>
              </a:lnSpc>
            </a:pPr>
            <a:r>
              <a:rPr lang="en-US" sz="2908">
                <a:solidFill>
                  <a:srgbClr val="FFFFFF"/>
                </a:solidFill>
                <a:latin typeface="Arimo"/>
                <a:ea typeface="Arimo"/>
                <a:cs typeface="Arimo"/>
                <a:sym typeface="Arimo"/>
              </a:rPr>
              <a:t>Pengembangan ini diharapkan dapat meningkatkan kemampuan model dalam mendeteksi aktivitas login mencurigakan secara lebih akurat.</a:t>
            </a:r>
          </a:p>
          <a:p>
            <a:pPr algn="ctr">
              <a:lnSpc>
                <a:spcPts val="4071"/>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33575">
            <a:off x="12150653" y="-3514862"/>
            <a:ext cx="5608645" cy="6038918"/>
          </a:xfrm>
          <a:custGeom>
            <a:avLst/>
            <a:gdLst/>
            <a:ahLst/>
            <a:cxnLst/>
            <a:rect r="r" b="b" t="t" l="l"/>
            <a:pathLst>
              <a:path h="6038918" w="5608645">
                <a:moveTo>
                  <a:pt x="0" y="0"/>
                </a:moveTo>
                <a:lnTo>
                  <a:pt x="5608645" y="0"/>
                </a:lnTo>
                <a:lnTo>
                  <a:pt x="5608645" y="6038919"/>
                </a:lnTo>
                <a:lnTo>
                  <a:pt x="0" y="6038919"/>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flipV="true">
            <a:off x="1068126" y="6170761"/>
            <a:ext cx="5795580" cy="0"/>
          </a:xfrm>
          <a:prstGeom prst="line">
            <a:avLst/>
          </a:prstGeom>
          <a:ln cap="flat" w="38100">
            <a:solidFill>
              <a:srgbClr val="000000"/>
            </a:solidFill>
            <a:prstDash val="solid"/>
            <a:headEnd type="none" len="sm" w="sm"/>
            <a:tailEnd type="none" len="sm" w="sm"/>
          </a:ln>
        </p:spPr>
      </p:sp>
      <p:sp>
        <p:nvSpPr>
          <p:cNvPr name="Freeform 5" id="5"/>
          <p:cNvSpPr/>
          <p:nvPr/>
        </p:nvSpPr>
        <p:spPr>
          <a:xfrm flipH="false" flipV="false" rot="938778">
            <a:off x="654578" y="8619887"/>
            <a:ext cx="1410309" cy="726309"/>
          </a:xfrm>
          <a:custGeom>
            <a:avLst/>
            <a:gdLst/>
            <a:ahLst/>
            <a:cxnLst/>
            <a:rect r="r" b="b" t="t" l="l"/>
            <a:pathLst>
              <a:path h="726309" w="1410309">
                <a:moveTo>
                  <a:pt x="0" y="0"/>
                </a:moveTo>
                <a:lnTo>
                  <a:pt x="1410309" y="0"/>
                </a:lnTo>
                <a:lnTo>
                  <a:pt x="1410309" y="726309"/>
                </a:lnTo>
                <a:lnTo>
                  <a:pt x="0" y="7263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945624" y="-1350721"/>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8298030" y="650984"/>
            <a:ext cx="6902030" cy="9764145"/>
          </a:xfrm>
          <a:custGeom>
            <a:avLst/>
            <a:gdLst/>
            <a:ahLst/>
            <a:cxnLst/>
            <a:rect r="r" b="b" t="t" l="l"/>
            <a:pathLst>
              <a:path h="9764145" w="6902030">
                <a:moveTo>
                  <a:pt x="0" y="0"/>
                </a:moveTo>
                <a:lnTo>
                  <a:pt x="6902030" y="0"/>
                </a:lnTo>
                <a:lnTo>
                  <a:pt x="6902030" y="9764145"/>
                </a:lnTo>
                <a:lnTo>
                  <a:pt x="0" y="9764145"/>
                </a:lnTo>
                <a:lnTo>
                  <a:pt x="0" y="0"/>
                </a:lnTo>
                <a:close/>
              </a:path>
            </a:pathLst>
          </a:custGeom>
          <a:blipFill>
            <a:blip r:embed="rId10"/>
            <a:stretch>
              <a:fillRect l="0" t="0" r="0" b="0"/>
            </a:stretch>
          </a:blipFill>
        </p:spPr>
      </p:sp>
      <p:sp>
        <p:nvSpPr>
          <p:cNvPr name="TextBox 8" id="8"/>
          <p:cNvSpPr txBox="true"/>
          <p:nvPr/>
        </p:nvSpPr>
        <p:spPr>
          <a:xfrm rot="0">
            <a:off x="-420910" y="4899388"/>
            <a:ext cx="8664227" cy="1038225"/>
          </a:xfrm>
          <a:prstGeom prst="rect">
            <a:avLst/>
          </a:prstGeom>
        </p:spPr>
        <p:txBody>
          <a:bodyPr anchor="t" rtlCol="false" tIns="0" lIns="0" bIns="0" rIns="0">
            <a:spAutoFit/>
          </a:bodyPr>
          <a:lstStyle/>
          <a:p>
            <a:pPr algn="ctr">
              <a:lnSpc>
                <a:spcPts val="8400"/>
              </a:lnSpc>
            </a:pPr>
            <a:r>
              <a:rPr lang="en-US" sz="6000">
                <a:solidFill>
                  <a:srgbClr val="000000"/>
                </a:solidFill>
                <a:latin typeface="League Spartan"/>
                <a:ea typeface="League Spartan"/>
                <a:cs typeface="League Spartan"/>
                <a:sym typeface="League Spartan"/>
              </a:rPr>
              <a:t>Poster</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4054100">
            <a:off x="14627300" y="-3009380"/>
            <a:ext cx="5183656" cy="6018759"/>
          </a:xfrm>
          <a:custGeom>
            <a:avLst/>
            <a:gdLst/>
            <a:ahLst/>
            <a:cxnLst/>
            <a:rect r="r" b="b" t="t" l="l"/>
            <a:pathLst>
              <a:path h="6018759" w="5183656">
                <a:moveTo>
                  <a:pt x="0" y="0"/>
                </a:moveTo>
                <a:lnTo>
                  <a:pt x="5183656" y="0"/>
                </a:lnTo>
                <a:lnTo>
                  <a:pt x="5183656" y="6018760"/>
                </a:lnTo>
                <a:lnTo>
                  <a:pt x="0" y="6018760"/>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629750">
            <a:off x="-902766" y="5558162"/>
            <a:ext cx="5183656" cy="6018759"/>
          </a:xfrm>
          <a:custGeom>
            <a:avLst/>
            <a:gdLst/>
            <a:ahLst/>
            <a:cxnLst/>
            <a:rect r="r" b="b" t="t" l="l"/>
            <a:pathLst>
              <a:path h="6018759" w="5183656">
                <a:moveTo>
                  <a:pt x="0" y="0"/>
                </a:moveTo>
                <a:lnTo>
                  <a:pt x="5183657" y="0"/>
                </a:lnTo>
                <a:lnTo>
                  <a:pt x="5183657" y="6018759"/>
                </a:lnTo>
                <a:lnTo>
                  <a:pt x="0" y="6018759"/>
                </a:lnTo>
                <a:lnTo>
                  <a:pt x="0" y="0"/>
                </a:lnTo>
                <a:close/>
              </a:path>
            </a:pathLst>
          </a:custGeom>
          <a:blipFill>
            <a:blip r:embed="rId2">
              <a:alphaModFix amt="13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5259" y="-4105759"/>
            <a:ext cx="18498518" cy="18498518"/>
          </a:xfrm>
          <a:custGeom>
            <a:avLst/>
            <a:gdLst/>
            <a:ahLst/>
            <a:cxnLst/>
            <a:rect r="r" b="b" t="t" l="l"/>
            <a:pathLst>
              <a:path h="18498518" w="18498518">
                <a:moveTo>
                  <a:pt x="0" y="0"/>
                </a:moveTo>
                <a:lnTo>
                  <a:pt x="18498518" y="0"/>
                </a:lnTo>
                <a:lnTo>
                  <a:pt x="18498518" y="18498518"/>
                </a:lnTo>
                <a:lnTo>
                  <a:pt x="0" y="18498518"/>
                </a:lnTo>
                <a:lnTo>
                  <a:pt x="0" y="0"/>
                </a:lnTo>
                <a:close/>
              </a:path>
            </a:pathLst>
          </a:custGeom>
          <a:blipFill>
            <a:blip r:embed="rId4">
              <a:alphaModFix amt="13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5130093" y="9262886"/>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99693" y="-973005"/>
            <a:ext cx="3657600" cy="2001705"/>
          </a:xfrm>
          <a:custGeom>
            <a:avLst/>
            <a:gdLst/>
            <a:ahLst/>
            <a:cxnLst/>
            <a:rect r="r" b="b" t="t" l="l"/>
            <a:pathLst>
              <a:path h="2001705" w="3657600">
                <a:moveTo>
                  <a:pt x="0" y="0"/>
                </a:moveTo>
                <a:lnTo>
                  <a:pt x="3657600" y="0"/>
                </a:lnTo>
                <a:lnTo>
                  <a:pt x="3657600" y="2001705"/>
                </a:lnTo>
                <a:lnTo>
                  <a:pt x="0" y="20017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7838940" y="4496113"/>
            <a:ext cx="10177942" cy="1842956"/>
          </a:xfrm>
          <a:prstGeom prst="rect">
            <a:avLst/>
          </a:prstGeom>
        </p:spPr>
        <p:txBody>
          <a:bodyPr anchor="t" rtlCol="false" tIns="0" lIns="0" bIns="0" rIns="0">
            <a:spAutoFit/>
          </a:bodyPr>
          <a:lstStyle/>
          <a:p>
            <a:pPr algn="ctr">
              <a:lnSpc>
                <a:spcPts val="14564"/>
              </a:lnSpc>
            </a:pPr>
            <a:r>
              <a:rPr lang="en-US" sz="12137">
                <a:solidFill>
                  <a:srgbClr val="000000"/>
                </a:solidFill>
                <a:latin typeface="League Spartan"/>
                <a:ea typeface="League Spartan"/>
                <a:cs typeface="League Spartan"/>
                <a:sym typeface="League Spartan"/>
              </a:rPr>
              <a:t>Thank you</a:t>
            </a:r>
          </a:p>
        </p:txBody>
      </p:sp>
      <p:sp>
        <p:nvSpPr>
          <p:cNvPr name="Freeform 8" id="8"/>
          <p:cNvSpPr/>
          <p:nvPr/>
        </p:nvSpPr>
        <p:spPr>
          <a:xfrm flipH="false" flipV="false" rot="0">
            <a:off x="444086" y="1800896"/>
            <a:ext cx="7650065" cy="7385790"/>
          </a:xfrm>
          <a:custGeom>
            <a:avLst/>
            <a:gdLst/>
            <a:ahLst/>
            <a:cxnLst/>
            <a:rect r="r" b="b" t="t" l="l"/>
            <a:pathLst>
              <a:path h="7385790" w="7650065">
                <a:moveTo>
                  <a:pt x="0" y="0"/>
                </a:moveTo>
                <a:lnTo>
                  <a:pt x="7650066" y="0"/>
                </a:lnTo>
                <a:lnTo>
                  <a:pt x="7650066" y="7385790"/>
                </a:lnTo>
                <a:lnTo>
                  <a:pt x="0" y="738579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367886" y="1724696"/>
            <a:ext cx="7650065" cy="7385790"/>
          </a:xfrm>
          <a:custGeom>
            <a:avLst/>
            <a:gdLst/>
            <a:ahLst/>
            <a:cxnLst/>
            <a:rect r="r" b="b" t="t" l="l"/>
            <a:pathLst>
              <a:path h="7385790" w="7650065">
                <a:moveTo>
                  <a:pt x="0" y="0"/>
                </a:moveTo>
                <a:lnTo>
                  <a:pt x="7650066" y="0"/>
                </a:lnTo>
                <a:lnTo>
                  <a:pt x="7650066" y="7385790"/>
                </a:lnTo>
                <a:lnTo>
                  <a:pt x="0" y="73857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0">
            <a:off x="9181500" y="8676674"/>
            <a:ext cx="1275904" cy="958523"/>
          </a:xfrm>
          <a:custGeom>
            <a:avLst/>
            <a:gdLst/>
            <a:ahLst/>
            <a:cxnLst/>
            <a:rect r="r" b="b" t="t" l="l"/>
            <a:pathLst>
              <a:path h="958523" w="1275904">
                <a:moveTo>
                  <a:pt x="0" y="0"/>
                </a:moveTo>
                <a:lnTo>
                  <a:pt x="1275904" y="0"/>
                </a:lnTo>
                <a:lnTo>
                  <a:pt x="1275904" y="958523"/>
                </a:lnTo>
                <a:lnTo>
                  <a:pt x="0" y="9585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1577008" y="681687"/>
            <a:ext cx="1350904" cy="694027"/>
          </a:xfrm>
          <a:custGeom>
            <a:avLst/>
            <a:gdLst/>
            <a:ahLst/>
            <a:cxnLst/>
            <a:rect r="r" b="b" t="t" l="l"/>
            <a:pathLst>
              <a:path h="694027" w="1350904">
                <a:moveTo>
                  <a:pt x="0" y="0"/>
                </a:moveTo>
                <a:lnTo>
                  <a:pt x="1350903" y="0"/>
                </a:lnTo>
                <a:lnTo>
                  <a:pt x="1350903" y="694026"/>
                </a:lnTo>
                <a:lnTo>
                  <a:pt x="0" y="69402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2" id="12"/>
          <p:cNvSpPr txBox="true"/>
          <p:nvPr/>
        </p:nvSpPr>
        <p:spPr>
          <a:xfrm rot="0">
            <a:off x="8836802" y="6272394"/>
            <a:ext cx="8673794" cy="1021499"/>
          </a:xfrm>
          <a:prstGeom prst="rect">
            <a:avLst/>
          </a:prstGeom>
        </p:spPr>
        <p:txBody>
          <a:bodyPr anchor="t" rtlCol="false" tIns="0" lIns="0" bIns="0" rIns="0">
            <a:spAutoFit/>
          </a:bodyPr>
          <a:lstStyle/>
          <a:p>
            <a:pPr algn="just">
              <a:lnSpc>
                <a:spcPts val="4071"/>
              </a:lnSpc>
            </a:pPr>
            <a:r>
              <a:rPr lang="en-US" sz="2908">
                <a:solidFill>
                  <a:srgbClr val="000000"/>
                </a:solidFill>
                <a:latin typeface="Arimo"/>
                <a:ea typeface="Arimo"/>
                <a:cs typeface="Arimo"/>
                <a:sym typeface="Arimo"/>
              </a:rPr>
              <a:t>Link:https://colab.research.google.com/drive/1i5uWn0Lqxy2c0MRbRAqXpHwhKYpAaCAO?usp=sharing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DAHNj18--V8</dc:identifier>
  <dcterms:modified xsi:type="dcterms:W3CDTF">2011-08-01T06:04:30Z</dcterms:modified>
  <cp:revision>1</cp:revision>
  <dc:title>Presentasi Materi Investigasi Statistika dalam Gaya Ilustratif Banyak Warna</dc:title>
</cp:coreProperties>
</file>